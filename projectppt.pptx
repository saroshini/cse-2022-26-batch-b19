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0" i="1">
                <a:solidFill>
                  <a:srgbClr val="FF66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0" i="1">
                <a:solidFill>
                  <a:srgbClr val="FF66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0" i="1">
                <a:solidFill>
                  <a:srgbClr val="FF66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9620" y="6537960"/>
            <a:ext cx="4537075" cy="178435"/>
          </a:xfrm>
          <a:custGeom>
            <a:avLst/>
            <a:gdLst/>
            <a:ahLst/>
            <a:cxnLst/>
            <a:rect l="l" t="t" r="r" b="b"/>
            <a:pathLst>
              <a:path w="4537075" h="178434">
                <a:moveTo>
                  <a:pt x="4536947" y="178307"/>
                </a:moveTo>
                <a:lnTo>
                  <a:pt x="0" y="178307"/>
                </a:lnTo>
                <a:lnTo>
                  <a:pt x="0" y="0"/>
                </a:lnTo>
                <a:lnTo>
                  <a:pt x="4536947" y="0"/>
                </a:lnTo>
                <a:lnTo>
                  <a:pt x="4536947" y="178307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306567" y="6537960"/>
            <a:ext cx="4282440" cy="178435"/>
          </a:xfrm>
          <a:custGeom>
            <a:avLst/>
            <a:gdLst/>
            <a:ahLst/>
            <a:cxnLst/>
            <a:rect l="l" t="t" r="r" b="b"/>
            <a:pathLst>
              <a:path w="4282440" h="178434">
                <a:moveTo>
                  <a:pt x="4282439" y="178307"/>
                </a:moveTo>
                <a:lnTo>
                  <a:pt x="0" y="178307"/>
                </a:lnTo>
                <a:lnTo>
                  <a:pt x="0" y="0"/>
                </a:lnTo>
                <a:lnTo>
                  <a:pt x="4282439" y="0"/>
                </a:lnTo>
                <a:lnTo>
                  <a:pt x="4282439" y="178307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589007" y="6537960"/>
            <a:ext cx="469900" cy="178435"/>
          </a:xfrm>
          <a:custGeom>
            <a:avLst/>
            <a:gdLst/>
            <a:ahLst/>
            <a:cxnLst/>
            <a:rect l="l" t="t" r="r" b="b"/>
            <a:pathLst>
              <a:path w="469900" h="178434">
                <a:moveTo>
                  <a:pt x="469392" y="178307"/>
                </a:moveTo>
                <a:lnTo>
                  <a:pt x="0" y="178307"/>
                </a:lnTo>
                <a:lnTo>
                  <a:pt x="0" y="0"/>
                </a:lnTo>
                <a:lnTo>
                  <a:pt x="469392" y="0"/>
                </a:lnTo>
                <a:lnTo>
                  <a:pt x="469392" y="178307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2996" y="5972555"/>
            <a:ext cx="565403" cy="56235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537960"/>
            <a:ext cx="769620" cy="178435"/>
          </a:xfrm>
          <a:custGeom>
            <a:avLst/>
            <a:gdLst/>
            <a:ahLst/>
            <a:cxnLst/>
            <a:rect l="l" t="t" r="r" b="b"/>
            <a:pathLst>
              <a:path w="769620" h="178434">
                <a:moveTo>
                  <a:pt x="769620" y="178307"/>
                </a:moveTo>
                <a:lnTo>
                  <a:pt x="0" y="178307"/>
                </a:lnTo>
                <a:lnTo>
                  <a:pt x="0" y="0"/>
                </a:lnTo>
                <a:lnTo>
                  <a:pt x="769620" y="0"/>
                </a:lnTo>
                <a:lnTo>
                  <a:pt x="769620" y="178307"/>
                </a:lnTo>
                <a:close/>
              </a:path>
            </a:pathLst>
          </a:custGeom>
          <a:solidFill>
            <a:srgbClr val="C359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1057655"/>
            <a:ext cx="10058400" cy="192405"/>
          </a:xfrm>
          <a:custGeom>
            <a:avLst/>
            <a:gdLst/>
            <a:ahLst/>
            <a:cxnLst/>
            <a:rect l="l" t="t" r="r" b="b"/>
            <a:pathLst>
              <a:path w="10058400" h="192405">
                <a:moveTo>
                  <a:pt x="10058400" y="192023"/>
                </a:moveTo>
                <a:lnTo>
                  <a:pt x="0" y="192023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023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0" i="1">
                <a:solidFill>
                  <a:srgbClr val="FF66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9620" y="6537960"/>
            <a:ext cx="4537075" cy="178435"/>
          </a:xfrm>
          <a:custGeom>
            <a:avLst/>
            <a:gdLst/>
            <a:ahLst/>
            <a:cxnLst/>
            <a:rect l="l" t="t" r="r" b="b"/>
            <a:pathLst>
              <a:path w="4537075" h="178434">
                <a:moveTo>
                  <a:pt x="4536947" y="178307"/>
                </a:moveTo>
                <a:lnTo>
                  <a:pt x="0" y="178307"/>
                </a:lnTo>
                <a:lnTo>
                  <a:pt x="0" y="0"/>
                </a:lnTo>
                <a:lnTo>
                  <a:pt x="4536947" y="0"/>
                </a:lnTo>
                <a:lnTo>
                  <a:pt x="4536947" y="178307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306567" y="6537960"/>
            <a:ext cx="4282440" cy="178435"/>
          </a:xfrm>
          <a:custGeom>
            <a:avLst/>
            <a:gdLst/>
            <a:ahLst/>
            <a:cxnLst/>
            <a:rect l="l" t="t" r="r" b="b"/>
            <a:pathLst>
              <a:path w="4282440" h="178434">
                <a:moveTo>
                  <a:pt x="4282439" y="178307"/>
                </a:moveTo>
                <a:lnTo>
                  <a:pt x="0" y="178307"/>
                </a:lnTo>
                <a:lnTo>
                  <a:pt x="0" y="0"/>
                </a:lnTo>
                <a:lnTo>
                  <a:pt x="4282439" y="0"/>
                </a:lnTo>
                <a:lnTo>
                  <a:pt x="4282439" y="178307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589007" y="6537960"/>
            <a:ext cx="469900" cy="178435"/>
          </a:xfrm>
          <a:custGeom>
            <a:avLst/>
            <a:gdLst/>
            <a:ahLst/>
            <a:cxnLst/>
            <a:rect l="l" t="t" r="r" b="b"/>
            <a:pathLst>
              <a:path w="469900" h="178434">
                <a:moveTo>
                  <a:pt x="469392" y="178307"/>
                </a:moveTo>
                <a:lnTo>
                  <a:pt x="0" y="178307"/>
                </a:lnTo>
                <a:lnTo>
                  <a:pt x="0" y="0"/>
                </a:lnTo>
                <a:lnTo>
                  <a:pt x="469392" y="0"/>
                </a:lnTo>
                <a:lnTo>
                  <a:pt x="469392" y="178307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92996" y="5972555"/>
            <a:ext cx="565403" cy="56235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537960"/>
            <a:ext cx="769620" cy="178435"/>
          </a:xfrm>
          <a:custGeom>
            <a:avLst/>
            <a:gdLst/>
            <a:ahLst/>
            <a:cxnLst/>
            <a:rect l="l" t="t" r="r" b="b"/>
            <a:pathLst>
              <a:path w="769620" h="178434">
                <a:moveTo>
                  <a:pt x="769620" y="178307"/>
                </a:moveTo>
                <a:lnTo>
                  <a:pt x="0" y="178307"/>
                </a:lnTo>
                <a:lnTo>
                  <a:pt x="0" y="0"/>
                </a:lnTo>
                <a:lnTo>
                  <a:pt x="769620" y="0"/>
                </a:lnTo>
                <a:lnTo>
                  <a:pt x="769620" y="178307"/>
                </a:lnTo>
                <a:close/>
              </a:path>
            </a:pathLst>
          </a:custGeom>
          <a:solidFill>
            <a:srgbClr val="C359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30850" y="2930063"/>
            <a:ext cx="5490845" cy="1229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0" i="1">
                <a:solidFill>
                  <a:srgbClr val="FF66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3652" y="1953251"/>
            <a:ext cx="9231095" cy="3688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22958" y="6509603"/>
            <a:ext cx="344805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268511" y="6509603"/>
            <a:ext cx="3060065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703238" y="6509603"/>
            <a:ext cx="212725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41604" y="6531864"/>
            <a:ext cx="9417050" cy="184785"/>
            <a:chOff x="641604" y="6531864"/>
            <a:chExt cx="9417050" cy="184785"/>
          </a:xfrm>
        </p:grpSpPr>
        <p:sp>
          <p:nvSpPr>
            <p:cNvPr id="3" name="object 3" descr=""/>
            <p:cNvSpPr/>
            <p:nvPr/>
          </p:nvSpPr>
          <p:spPr>
            <a:xfrm>
              <a:off x="641604" y="6531864"/>
              <a:ext cx="4770120" cy="181610"/>
            </a:xfrm>
            <a:custGeom>
              <a:avLst/>
              <a:gdLst/>
              <a:ahLst/>
              <a:cxnLst/>
              <a:rect l="l" t="t" r="r" b="b"/>
              <a:pathLst>
                <a:path w="4770120" h="181609">
                  <a:moveTo>
                    <a:pt x="4770119" y="181355"/>
                  </a:moveTo>
                  <a:lnTo>
                    <a:pt x="0" y="181355"/>
                  </a:lnTo>
                  <a:lnTo>
                    <a:pt x="0" y="0"/>
                  </a:lnTo>
                  <a:lnTo>
                    <a:pt x="4770119" y="0"/>
                  </a:lnTo>
                  <a:lnTo>
                    <a:pt x="4770119" y="181355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411723" y="6531864"/>
              <a:ext cx="4285615" cy="181610"/>
            </a:xfrm>
            <a:custGeom>
              <a:avLst/>
              <a:gdLst/>
              <a:ahLst/>
              <a:cxnLst/>
              <a:rect l="l" t="t" r="r" b="b"/>
              <a:pathLst>
                <a:path w="4285615" h="181609">
                  <a:moveTo>
                    <a:pt x="4285488" y="181355"/>
                  </a:moveTo>
                  <a:lnTo>
                    <a:pt x="0" y="181355"/>
                  </a:lnTo>
                  <a:lnTo>
                    <a:pt x="0" y="0"/>
                  </a:lnTo>
                  <a:lnTo>
                    <a:pt x="4285488" y="0"/>
                  </a:lnTo>
                  <a:lnTo>
                    <a:pt x="4285488" y="181355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698735" y="6533387"/>
              <a:ext cx="360045" cy="182880"/>
            </a:xfrm>
            <a:custGeom>
              <a:avLst/>
              <a:gdLst/>
              <a:ahLst/>
              <a:cxnLst/>
              <a:rect l="l" t="t" r="r" b="b"/>
              <a:pathLst>
                <a:path w="360045" h="182879">
                  <a:moveTo>
                    <a:pt x="359664" y="182880"/>
                  </a:moveTo>
                  <a:lnTo>
                    <a:pt x="0" y="182880"/>
                  </a:lnTo>
                  <a:lnTo>
                    <a:pt x="0" y="0"/>
                  </a:lnTo>
                  <a:lnTo>
                    <a:pt x="359664" y="0"/>
                  </a:lnTo>
                  <a:lnTo>
                    <a:pt x="359664" y="18288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0" y="1057655"/>
            <a:ext cx="10058400" cy="192405"/>
          </a:xfrm>
          <a:custGeom>
            <a:avLst/>
            <a:gdLst/>
            <a:ahLst/>
            <a:cxnLst/>
            <a:rect l="l" t="t" r="r" b="b"/>
            <a:pathLst>
              <a:path w="10058400" h="192405">
                <a:moveTo>
                  <a:pt x="10058400" y="192023"/>
                </a:moveTo>
                <a:lnTo>
                  <a:pt x="0" y="192023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023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0" y="6531864"/>
            <a:ext cx="641985" cy="182880"/>
          </a:xfrm>
          <a:custGeom>
            <a:avLst/>
            <a:gdLst/>
            <a:ahLst/>
            <a:cxnLst/>
            <a:rect l="l" t="t" r="r" b="b"/>
            <a:pathLst>
              <a:path w="641985" h="182879">
                <a:moveTo>
                  <a:pt x="641604" y="182880"/>
                </a:moveTo>
                <a:lnTo>
                  <a:pt x="0" y="182880"/>
                </a:lnTo>
                <a:lnTo>
                  <a:pt x="0" y="0"/>
                </a:lnTo>
                <a:lnTo>
                  <a:pt x="641604" y="0"/>
                </a:lnTo>
                <a:lnTo>
                  <a:pt x="641604" y="182880"/>
                </a:lnTo>
                <a:close/>
              </a:path>
            </a:pathLst>
          </a:custGeom>
          <a:solidFill>
            <a:srgbClr val="C359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440180" y="2468378"/>
            <a:ext cx="1082675" cy="365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50" spc="-10">
                <a:latin typeface="Times New Roman"/>
                <a:cs typeface="Times New Roman"/>
              </a:rPr>
              <a:t>S.A.ROSHINI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dirty="0" sz="750">
                <a:latin typeface="Times New Roman"/>
                <a:cs typeface="Times New Roman"/>
              </a:rPr>
              <a:t>Roll</a:t>
            </a:r>
            <a:r>
              <a:rPr dirty="0" sz="750" spc="-4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No.</a:t>
            </a:r>
            <a:r>
              <a:rPr dirty="0" sz="750" spc="-4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224G1A0586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80009" y="3007068"/>
            <a:ext cx="2881630" cy="61277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430"/>
              </a:spcBef>
            </a:pPr>
            <a:r>
              <a:rPr dirty="0" sz="1150" i="1">
                <a:latin typeface="Times New Roman"/>
                <a:cs typeface="Times New Roman"/>
              </a:rPr>
              <a:t>Under</a:t>
            </a:r>
            <a:r>
              <a:rPr dirty="0" sz="1150" spc="-55" i="1">
                <a:latin typeface="Times New Roman"/>
                <a:cs typeface="Times New Roman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the</a:t>
            </a:r>
            <a:r>
              <a:rPr dirty="0" sz="1150" spc="-25" i="1">
                <a:latin typeface="Times New Roman"/>
                <a:cs typeface="Times New Roman"/>
              </a:rPr>
              <a:t> </a:t>
            </a:r>
            <a:r>
              <a:rPr dirty="0" sz="1150" spc="-20" i="1">
                <a:latin typeface="Times New Roman"/>
                <a:cs typeface="Times New Roman"/>
              </a:rPr>
              <a:t>guidance</a:t>
            </a:r>
            <a:r>
              <a:rPr dirty="0" sz="1150" spc="-35" i="1">
                <a:latin typeface="Times New Roman"/>
                <a:cs typeface="Times New Roman"/>
              </a:rPr>
              <a:t> </a:t>
            </a:r>
            <a:r>
              <a:rPr dirty="0" sz="1150" spc="-25" i="1">
                <a:latin typeface="Times New Roman"/>
                <a:cs typeface="Times New Roman"/>
              </a:rPr>
              <a:t>of</a:t>
            </a:r>
            <a:endParaRPr sz="1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dirty="0" sz="1950">
                <a:latin typeface="Microsoft Sans Serif"/>
                <a:cs typeface="Microsoft Sans Serif"/>
              </a:rPr>
              <a:t>Mrs.</a:t>
            </a:r>
            <a:r>
              <a:rPr dirty="0" sz="1950" spc="-2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M.Sowmya</a:t>
            </a:r>
            <a:r>
              <a:rPr dirty="0" sz="1950" spc="2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,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M.Tech.,</a:t>
            </a:r>
            <a:r>
              <a:rPr dirty="0" sz="1150" spc="2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Ph.D.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05420" y="5193294"/>
            <a:ext cx="6449060" cy="1276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540">
              <a:lnSpc>
                <a:spcPts val="201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Department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Computer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Science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Engineering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3210"/>
              </a:lnSpc>
            </a:pP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Srinivasa</a:t>
            </a:r>
            <a:r>
              <a:rPr dirty="0" sz="2800" spc="-114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Ramanujan</a:t>
            </a:r>
            <a:r>
              <a:rPr dirty="0" sz="2800" spc="-5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dirty="0" sz="2800" spc="-114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dirty="0" sz="2800" spc="-8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Times New Roman"/>
                <a:cs typeface="Times New Roman"/>
              </a:rPr>
              <a:t>Technology</a:t>
            </a:r>
            <a:endParaRPr sz="28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  <a:spcBef>
                <a:spcPts val="5"/>
              </a:spcBef>
            </a:pPr>
            <a:r>
              <a:rPr dirty="0" sz="1450" spc="-10" b="1">
                <a:latin typeface="Times New Roman"/>
                <a:cs typeface="Times New Roman"/>
              </a:rPr>
              <a:t>Autonomous</a:t>
            </a:r>
            <a:endParaRPr sz="1450">
              <a:latin typeface="Times New Roman"/>
              <a:cs typeface="Times New Roman"/>
            </a:endParaRPr>
          </a:p>
          <a:p>
            <a:pPr algn="ctr" marL="4445">
              <a:lnSpc>
                <a:spcPct val="100000"/>
              </a:lnSpc>
              <a:spcBef>
                <a:spcPts val="15"/>
              </a:spcBef>
            </a:pPr>
            <a:r>
              <a:rPr dirty="0" sz="1000" spc="-20" b="1">
                <a:latin typeface="Times New Roman"/>
                <a:cs typeface="Times New Roman"/>
              </a:rPr>
              <a:t>Rotarypuram</a:t>
            </a:r>
            <a:r>
              <a:rPr dirty="0" sz="1000" spc="-3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Village,</a:t>
            </a:r>
            <a:r>
              <a:rPr dirty="0" sz="1000" spc="10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B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K</a:t>
            </a:r>
            <a:r>
              <a:rPr dirty="0" sz="1000" spc="5" b="1">
                <a:latin typeface="Times New Roman"/>
                <a:cs typeface="Times New Roman"/>
              </a:rPr>
              <a:t> </a:t>
            </a:r>
            <a:r>
              <a:rPr dirty="0" sz="1000" spc="-20" b="1">
                <a:latin typeface="Times New Roman"/>
                <a:cs typeface="Times New Roman"/>
              </a:rPr>
              <a:t>Samudram</a:t>
            </a:r>
            <a:r>
              <a:rPr dirty="0" sz="1000" spc="15" b="1">
                <a:latin typeface="Times New Roman"/>
                <a:cs typeface="Times New Roman"/>
              </a:rPr>
              <a:t> </a:t>
            </a:r>
            <a:r>
              <a:rPr dirty="0" sz="1000" spc="-20" b="1">
                <a:latin typeface="Times New Roman"/>
                <a:cs typeface="Times New Roman"/>
              </a:rPr>
              <a:t>Mandal,</a:t>
            </a:r>
            <a:r>
              <a:rPr dirty="0" sz="1000" spc="-45" b="1">
                <a:latin typeface="Times New Roman"/>
                <a:cs typeface="Times New Roman"/>
              </a:rPr>
              <a:t> </a:t>
            </a:r>
            <a:r>
              <a:rPr dirty="0" sz="1000" spc="-20" b="1">
                <a:latin typeface="Times New Roman"/>
                <a:cs typeface="Times New Roman"/>
              </a:rPr>
              <a:t>Ananthapuramu</a:t>
            </a:r>
            <a:r>
              <a:rPr dirty="0" sz="1000" spc="2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– </a:t>
            </a:r>
            <a:r>
              <a:rPr dirty="0" sz="1000" spc="-10" b="1">
                <a:latin typeface="Times New Roman"/>
                <a:cs typeface="Times New Roman"/>
              </a:rPr>
              <a:t>515701.</a:t>
            </a:r>
            <a:endParaRPr sz="1000">
              <a:latin typeface="Times New Roman"/>
              <a:cs typeface="Times New Roman"/>
            </a:endParaRPr>
          </a:p>
          <a:p>
            <a:pPr algn="ctr" marL="5715">
              <a:lnSpc>
                <a:spcPct val="100000"/>
              </a:lnSpc>
              <a:spcBef>
                <a:spcPts val="409"/>
              </a:spcBef>
            </a:pPr>
            <a:r>
              <a:rPr dirty="0" sz="1050" spc="-10" b="1">
                <a:solidFill>
                  <a:srgbClr val="1C4D77"/>
                </a:solidFill>
                <a:latin typeface="Times New Roman"/>
                <a:cs typeface="Times New Roman"/>
              </a:rPr>
              <a:t>2025-</a:t>
            </a:r>
            <a:r>
              <a:rPr dirty="0" sz="1050" spc="-20" b="1">
                <a:solidFill>
                  <a:srgbClr val="1C4D77"/>
                </a:solidFill>
                <a:latin typeface="Times New Roman"/>
                <a:cs typeface="Times New Roman"/>
              </a:rPr>
              <a:t>2026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529136" y="2414999"/>
            <a:ext cx="1567815" cy="44894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dirty="0" sz="1650" spc="-10">
                <a:latin typeface="Times New Roman"/>
                <a:cs typeface="Times New Roman"/>
              </a:rPr>
              <a:t>A.GOVARDHAN</a:t>
            </a:r>
            <a:endParaRPr sz="1650">
              <a:latin typeface="Times New Roman"/>
              <a:cs typeface="Times New Roman"/>
            </a:endParaRPr>
          </a:p>
          <a:p>
            <a:pPr algn="ctr" marL="2540">
              <a:lnSpc>
                <a:spcPct val="100000"/>
              </a:lnSpc>
              <a:spcBef>
                <a:spcPts val="145"/>
              </a:spcBef>
            </a:pPr>
            <a:r>
              <a:rPr dirty="0" sz="750">
                <a:latin typeface="Times New Roman"/>
                <a:cs typeface="Times New Roman"/>
              </a:rPr>
              <a:t>Roll</a:t>
            </a:r>
            <a:r>
              <a:rPr dirty="0" sz="750" spc="-1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No.</a:t>
            </a:r>
            <a:r>
              <a:rPr dirty="0" sz="750" spc="-25">
                <a:latin typeface="Times New Roman"/>
                <a:cs typeface="Times New Roman"/>
              </a:rPr>
              <a:t> </a:t>
            </a:r>
            <a:r>
              <a:rPr dirty="0" sz="750" spc="-10">
                <a:latin typeface="Times New Roman"/>
                <a:cs typeface="Times New Roman"/>
              </a:rPr>
              <a:t>224G1A05C7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31134" y="2452424"/>
            <a:ext cx="1466850" cy="45021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 sz="1600">
                <a:latin typeface="Times New Roman"/>
                <a:cs typeface="Times New Roman"/>
              </a:rPr>
              <a:t>B.THANU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SREE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900">
                <a:latin typeface="Times New Roman"/>
                <a:cs typeface="Times New Roman"/>
              </a:rPr>
              <a:t>Roll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No.</a:t>
            </a:r>
            <a:r>
              <a:rPr dirty="0" sz="900" spc="-10">
                <a:latin typeface="Times New Roman"/>
                <a:cs typeface="Times New Roman"/>
              </a:rPr>
              <a:t> 224G1A0592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53795" y="1331975"/>
            <a:ext cx="8729980" cy="774700"/>
            <a:chOff x="653795" y="1331975"/>
            <a:chExt cx="8729980" cy="774700"/>
          </a:xfrm>
        </p:grpSpPr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795" y="1331975"/>
              <a:ext cx="8729471" cy="774191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673608" y="1351788"/>
              <a:ext cx="8685530" cy="707390"/>
            </a:xfrm>
            <a:custGeom>
              <a:avLst/>
              <a:gdLst/>
              <a:ahLst/>
              <a:cxnLst/>
              <a:rect l="l" t="t" r="r" b="b"/>
              <a:pathLst>
                <a:path w="8685530" h="707389">
                  <a:moveTo>
                    <a:pt x="8566403" y="707135"/>
                  </a:moveTo>
                  <a:lnTo>
                    <a:pt x="117348" y="707135"/>
                  </a:lnTo>
                  <a:lnTo>
                    <a:pt x="79248" y="701039"/>
                  </a:lnTo>
                  <a:lnTo>
                    <a:pt x="47243" y="684275"/>
                  </a:lnTo>
                  <a:lnTo>
                    <a:pt x="21335" y="659891"/>
                  </a:lnTo>
                  <a:lnTo>
                    <a:pt x="4571" y="626363"/>
                  </a:lnTo>
                  <a:lnTo>
                    <a:pt x="0" y="589787"/>
                  </a:lnTo>
                  <a:lnTo>
                    <a:pt x="0" y="117348"/>
                  </a:lnTo>
                  <a:lnTo>
                    <a:pt x="21335" y="48767"/>
                  </a:lnTo>
                  <a:lnTo>
                    <a:pt x="79248" y="6096"/>
                  </a:lnTo>
                  <a:lnTo>
                    <a:pt x="117348" y="0"/>
                  </a:lnTo>
                  <a:lnTo>
                    <a:pt x="8566403" y="0"/>
                  </a:lnTo>
                  <a:lnTo>
                    <a:pt x="8612123" y="9143"/>
                  </a:lnTo>
                  <a:lnTo>
                    <a:pt x="8650223" y="35052"/>
                  </a:lnTo>
                  <a:lnTo>
                    <a:pt x="8676131" y="73152"/>
                  </a:lnTo>
                  <a:lnTo>
                    <a:pt x="8685275" y="117348"/>
                  </a:lnTo>
                  <a:lnTo>
                    <a:pt x="8685275" y="589787"/>
                  </a:lnTo>
                  <a:lnTo>
                    <a:pt x="8662415" y="659891"/>
                  </a:lnTo>
                  <a:lnTo>
                    <a:pt x="8604503" y="701039"/>
                  </a:lnTo>
                  <a:lnTo>
                    <a:pt x="8566403" y="707135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445570" y="1453414"/>
            <a:ext cx="4919345" cy="4298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i="0">
                <a:solidFill>
                  <a:srgbClr val="FFFFFF"/>
                </a:solidFill>
                <a:latin typeface="Times New Roman"/>
                <a:cs typeface="Times New Roman"/>
              </a:rPr>
              <a:t>Improving</a:t>
            </a:r>
            <a:r>
              <a:rPr dirty="0" sz="2650" spc="-65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50" i="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dirty="0" sz="2650" spc="-25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50" i="0">
                <a:solidFill>
                  <a:srgbClr val="FFFFFF"/>
                </a:solidFill>
                <a:latin typeface="Times New Roman"/>
                <a:cs typeface="Times New Roman"/>
              </a:rPr>
              <a:t>Forensic</a:t>
            </a:r>
            <a:r>
              <a:rPr dirty="0" sz="2650" spc="-45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50" spc="-10" i="0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938767" y="2104156"/>
            <a:ext cx="1778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 i="1">
                <a:latin typeface="Times New Roman"/>
                <a:cs typeface="Times New Roman"/>
              </a:rPr>
              <a:t>by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9788" y="3694176"/>
            <a:ext cx="1260347" cy="14569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23" y="1057655"/>
            <a:ext cx="10057130" cy="19240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marL="3152775">
              <a:lnSpc>
                <a:spcPts val="1260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Improving</a:t>
            </a:r>
            <a:r>
              <a:rPr dirty="0" sz="1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dirty="0" sz="1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Forensic</a:t>
            </a:r>
            <a:r>
              <a:rPr dirty="0" sz="120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28344"/>
            <a:ext cx="10058400" cy="6652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3" y="1249680"/>
            <a:ext cx="10057130" cy="586740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3875"/>
              </a:lnSpc>
            </a:pPr>
            <a:r>
              <a:rPr dirty="0" sz="3600" spc="-10" i="0">
                <a:solidFill>
                  <a:srgbClr val="FFFFFF"/>
                </a:solidFill>
                <a:latin typeface="Times New Roman"/>
                <a:cs typeface="Times New Roman"/>
              </a:rPr>
              <a:t>Contents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20553" y="6508096"/>
            <a:ext cx="3252470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5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5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3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267763" y="1847332"/>
            <a:ext cx="7736840" cy="3865879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51790" indent="-339090">
              <a:lnSpc>
                <a:spcPct val="100000"/>
              </a:lnSpc>
              <a:spcBef>
                <a:spcPts val="695"/>
              </a:spcBef>
              <a:buChar char="•"/>
              <a:tabLst>
                <a:tab pos="351790" algn="l"/>
              </a:tabLst>
            </a:pPr>
            <a:r>
              <a:rPr dirty="0" sz="2300">
                <a:latin typeface="Times New Roman"/>
                <a:cs typeface="Times New Roman"/>
              </a:rPr>
              <a:t>Title</a:t>
            </a:r>
            <a:r>
              <a:rPr dirty="0" sz="2300" spc="-90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Justification</a:t>
            </a:r>
            <a:endParaRPr sz="2300">
              <a:latin typeface="Times New Roman"/>
              <a:cs typeface="Times New Roman"/>
            </a:endParaRPr>
          </a:p>
          <a:p>
            <a:pPr marL="351790" indent="-339090">
              <a:lnSpc>
                <a:spcPct val="100000"/>
              </a:lnSpc>
              <a:spcBef>
                <a:spcPts val="600"/>
              </a:spcBef>
              <a:buChar char="•"/>
              <a:tabLst>
                <a:tab pos="351790" algn="l"/>
              </a:tabLst>
            </a:pPr>
            <a:r>
              <a:rPr dirty="0" sz="2300" spc="-10">
                <a:latin typeface="Times New Roman"/>
                <a:cs typeface="Times New Roman"/>
              </a:rPr>
              <a:t>Abstract</a:t>
            </a:r>
            <a:endParaRPr sz="2300">
              <a:latin typeface="Times New Roman"/>
              <a:cs typeface="Times New Roman"/>
            </a:endParaRPr>
          </a:p>
          <a:p>
            <a:pPr marL="351790" indent="-339090">
              <a:lnSpc>
                <a:spcPct val="100000"/>
              </a:lnSpc>
              <a:spcBef>
                <a:spcPts val="600"/>
              </a:spcBef>
              <a:buChar char="•"/>
              <a:tabLst>
                <a:tab pos="351790" algn="l"/>
              </a:tabLst>
            </a:pPr>
            <a:r>
              <a:rPr dirty="0" sz="2300">
                <a:latin typeface="Times New Roman"/>
                <a:cs typeface="Times New Roman"/>
              </a:rPr>
              <a:t>Problem</a:t>
            </a:r>
            <a:r>
              <a:rPr dirty="0" sz="2300" spc="-114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statement</a:t>
            </a:r>
            <a:endParaRPr sz="2300">
              <a:latin typeface="Times New Roman"/>
              <a:cs typeface="Times New Roman"/>
            </a:endParaRPr>
          </a:p>
          <a:p>
            <a:pPr marL="351790" indent="-339090">
              <a:lnSpc>
                <a:spcPct val="100000"/>
              </a:lnSpc>
              <a:spcBef>
                <a:spcPts val="600"/>
              </a:spcBef>
              <a:buChar char="•"/>
              <a:tabLst>
                <a:tab pos="351790" algn="l"/>
              </a:tabLst>
            </a:pPr>
            <a:r>
              <a:rPr dirty="0" sz="2300">
                <a:latin typeface="Times New Roman"/>
                <a:cs typeface="Times New Roman"/>
              </a:rPr>
              <a:t>Objectives</a:t>
            </a:r>
            <a:r>
              <a:rPr dirty="0" sz="2300" spc="-10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of</a:t>
            </a:r>
            <a:r>
              <a:rPr dirty="0" sz="2300" spc="-8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Project</a:t>
            </a:r>
            <a:endParaRPr sz="2300">
              <a:latin typeface="Times New Roman"/>
              <a:cs typeface="Times New Roman"/>
            </a:endParaRPr>
          </a:p>
          <a:p>
            <a:pPr marL="351790" indent="-339090">
              <a:lnSpc>
                <a:spcPct val="100000"/>
              </a:lnSpc>
              <a:spcBef>
                <a:spcPts val="600"/>
              </a:spcBef>
              <a:buChar char="•"/>
              <a:tabLst>
                <a:tab pos="351790" algn="l"/>
              </a:tabLst>
            </a:pPr>
            <a:r>
              <a:rPr dirty="0" sz="2300">
                <a:latin typeface="Times New Roman"/>
                <a:cs typeface="Times New Roman"/>
              </a:rPr>
              <a:t>Literature</a:t>
            </a:r>
            <a:r>
              <a:rPr dirty="0" sz="2300" spc="-9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survey</a:t>
            </a:r>
            <a:r>
              <a:rPr dirty="0" sz="2300" spc="-8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for</a:t>
            </a:r>
            <a:r>
              <a:rPr dirty="0" sz="2300" spc="-50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objectives</a:t>
            </a:r>
            <a:endParaRPr sz="2300">
              <a:latin typeface="Times New Roman"/>
              <a:cs typeface="Times New Roman"/>
            </a:endParaRPr>
          </a:p>
          <a:p>
            <a:pPr marL="351790" indent="-339090">
              <a:lnSpc>
                <a:spcPct val="100000"/>
              </a:lnSpc>
              <a:spcBef>
                <a:spcPts val="600"/>
              </a:spcBef>
              <a:buChar char="•"/>
              <a:tabLst>
                <a:tab pos="351790" algn="l"/>
              </a:tabLst>
            </a:pPr>
            <a:r>
              <a:rPr dirty="0" sz="2300">
                <a:latin typeface="Times New Roman"/>
                <a:cs typeface="Times New Roman"/>
              </a:rPr>
              <a:t>Proposed</a:t>
            </a:r>
            <a:r>
              <a:rPr dirty="0" sz="2300" spc="-7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Work</a:t>
            </a:r>
            <a:r>
              <a:rPr dirty="0" sz="2300" spc="-90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-</a:t>
            </a:r>
            <a:r>
              <a:rPr dirty="0" sz="2300">
                <a:latin typeface="Times New Roman"/>
                <a:cs typeface="Times New Roman"/>
              </a:rPr>
              <a:t>(Methods</a:t>
            </a:r>
            <a:r>
              <a:rPr dirty="0" sz="2300" spc="-4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to</a:t>
            </a:r>
            <a:r>
              <a:rPr dirty="0" sz="2300" spc="-4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be</a:t>
            </a:r>
            <a:r>
              <a:rPr dirty="0" sz="2300" spc="-7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followed</a:t>
            </a:r>
            <a:r>
              <a:rPr dirty="0" sz="2300" spc="-9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for</a:t>
            </a:r>
            <a:r>
              <a:rPr dirty="0" sz="2300" spc="-5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proposed</a:t>
            </a:r>
            <a:r>
              <a:rPr dirty="0" sz="2300" spc="-70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system)</a:t>
            </a:r>
            <a:endParaRPr sz="2300">
              <a:latin typeface="Times New Roman"/>
              <a:cs typeface="Times New Roman"/>
            </a:endParaRPr>
          </a:p>
          <a:p>
            <a:pPr marL="351790" indent="-339090">
              <a:lnSpc>
                <a:spcPct val="100000"/>
              </a:lnSpc>
              <a:spcBef>
                <a:spcPts val="600"/>
              </a:spcBef>
              <a:buChar char="•"/>
              <a:tabLst>
                <a:tab pos="351790" algn="l"/>
              </a:tabLst>
            </a:pPr>
            <a:r>
              <a:rPr dirty="0" sz="2300" spc="-10">
                <a:latin typeface="Times New Roman"/>
                <a:cs typeface="Times New Roman"/>
              </a:rPr>
              <a:t>References</a:t>
            </a:r>
            <a:endParaRPr sz="2300">
              <a:latin typeface="Times New Roman"/>
              <a:cs typeface="Times New Roman"/>
            </a:endParaRPr>
          </a:p>
          <a:p>
            <a:pPr marL="351790" indent="-339090">
              <a:lnSpc>
                <a:spcPct val="100000"/>
              </a:lnSpc>
              <a:spcBef>
                <a:spcPts val="600"/>
              </a:spcBef>
              <a:buChar char="•"/>
              <a:tabLst>
                <a:tab pos="351790" algn="l"/>
              </a:tabLst>
            </a:pPr>
            <a:r>
              <a:rPr dirty="0" sz="2300">
                <a:latin typeface="Times New Roman"/>
                <a:cs typeface="Times New Roman"/>
              </a:rPr>
              <a:t>GitHub</a:t>
            </a:r>
            <a:r>
              <a:rPr dirty="0" sz="2300" spc="-65">
                <a:latin typeface="Times New Roman"/>
                <a:cs typeface="Times New Roman"/>
              </a:rPr>
              <a:t> </a:t>
            </a:r>
            <a:r>
              <a:rPr dirty="0" sz="2300" spc="-20">
                <a:latin typeface="Times New Roman"/>
                <a:cs typeface="Times New Roman"/>
              </a:rPr>
              <a:t>Link</a:t>
            </a:r>
            <a:endParaRPr sz="2300">
              <a:latin typeface="Times New Roman"/>
              <a:cs typeface="Times New Roman"/>
            </a:endParaRPr>
          </a:p>
          <a:p>
            <a:pPr marL="351790" indent="-339090">
              <a:lnSpc>
                <a:spcPct val="100000"/>
              </a:lnSpc>
              <a:spcBef>
                <a:spcPts val="600"/>
              </a:spcBef>
              <a:buChar char="•"/>
              <a:tabLst>
                <a:tab pos="351790" algn="l"/>
              </a:tabLst>
            </a:pPr>
            <a:r>
              <a:rPr dirty="0" sz="2300" spc="-10">
                <a:latin typeface="Times New Roman"/>
                <a:cs typeface="Times New Roman"/>
              </a:rPr>
              <a:t>Queries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3" y="1057655"/>
            <a:ext cx="10057130" cy="360045"/>
          </a:xfrm>
          <a:custGeom>
            <a:avLst/>
            <a:gdLst/>
            <a:ahLst/>
            <a:cxnLst/>
            <a:rect l="l" t="t" r="r" b="b"/>
            <a:pathLst>
              <a:path w="10057130" h="360044">
                <a:moveTo>
                  <a:pt x="10056876" y="359664"/>
                </a:moveTo>
                <a:lnTo>
                  <a:pt x="0" y="359664"/>
                </a:lnTo>
                <a:lnTo>
                  <a:pt x="0" y="0"/>
                </a:lnTo>
                <a:lnTo>
                  <a:pt x="10056876" y="0"/>
                </a:lnTo>
                <a:lnTo>
                  <a:pt x="10056876" y="359664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523" y="1057655"/>
            <a:ext cx="10057130" cy="19240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marL="3166745">
              <a:lnSpc>
                <a:spcPts val="1355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Improving</a:t>
            </a:r>
            <a:r>
              <a:rPr dirty="0" sz="1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dirty="0" sz="1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Forensic</a:t>
            </a:r>
            <a:r>
              <a:rPr dirty="0" sz="120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1228344"/>
            <a:ext cx="10058400" cy="673735"/>
            <a:chOff x="0" y="1228344"/>
            <a:chExt cx="10058400" cy="67373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28344"/>
              <a:ext cx="10058400" cy="67360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3" y="1249680"/>
              <a:ext cx="10057130" cy="586740"/>
            </a:xfrm>
            <a:custGeom>
              <a:avLst/>
              <a:gdLst/>
              <a:ahLst/>
              <a:cxnLst/>
              <a:rect l="l" t="t" r="r" b="b"/>
              <a:pathLst>
                <a:path w="10057130" h="586739">
                  <a:moveTo>
                    <a:pt x="10056876" y="586740"/>
                  </a:moveTo>
                  <a:lnTo>
                    <a:pt x="0" y="586740"/>
                  </a:lnTo>
                  <a:lnTo>
                    <a:pt x="0" y="0"/>
                  </a:lnTo>
                  <a:lnTo>
                    <a:pt x="10056876" y="0"/>
                  </a:lnTo>
                  <a:lnTo>
                    <a:pt x="10056876" y="58674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23" y="1417319"/>
            <a:ext cx="10057130" cy="419100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2555"/>
              </a:lnSpc>
            </a:pPr>
            <a:r>
              <a:rPr dirty="0" sz="3600" i="0">
                <a:solidFill>
                  <a:srgbClr val="000000"/>
                </a:solidFill>
                <a:latin typeface="Times New Roman"/>
                <a:cs typeface="Times New Roman"/>
              </a:rPr>
              <a:t>Title</a:t>
            </a:r>
            <a:r>
              <a:rPr dirty="0" sz="3600" spc="-114" i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600" spc="-10" i="0">
                <a:solidFill>
                  <a:srgbClr val="000000"/>
                </a:solidFill>
                <a:latin typeface="Times New Roman"/>
                <a:cs typeface="Times New Roman"/>
              </a:rPr>
              <a:t>Justification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20553" y="6508096"/>
            <a:ext cx="3252470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5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5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3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26670" marR="8255" indent="297815">
              <a:lnSpc>
                <a:spcPct val="101000"/>
              </a:lnSpc>
              <a:spcBef>
                <a:spcPts val="80"/>
              </a:spcBef>
              <a:buChar char="●"/>
              <a:tabLst>
                <a:tab pos="324485" algn="l"/>
              </a:tabLst>
            </a:pPr>
            <a:r>
              <a:rPr dirty="0"/>
              <a:t>The</a:t>
            </a:r>
            <a:r>
              <a:rPr dirty="0" spc="80"/>
              <a:t> </a:t>
            </a:r>
            <a:r>
              <a:rPr dirty="0"/>
              <a:t>title</a:t>
            </a:r>
            <a:r>
              <a:rPr dirty="0" spc="85"/>
              <a:t> </a:t>
            </a:r>
            <a:r>
              <a:rPr dirty="0"/>
              <a:t>is</a:t>
            </a:r>
            <a:r>
              <a:rPr dirty="0" spc="100"/>
              <a:t> </a:t>
            </a:r>
            <a:r>
              <a:rPr dirty="0"/>
              <a:t>justified</a:t>
            </a:r>
            <a:r>
              <a:rPr dirty="0" spc="80"/>
              <a:t> </a:t>
            </a:r>
            <a:r>
              <a:rPr dirty="0"/>
              <a:t>because</a:t>
            </a:r>
            <a:r>
              <a:rPr dirty="0" spc="85"/>
              <a:t> </a:t>
            </a: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</a:t>
            </a:r>
            <a:r>
              <a:rPr dirty="0" spc="75"/>
              <a:t> </a:t>
            </a:r>
            <a:r>
              <a:rPr dirty="0"/>
              <a:t>evidence</a:t>
            </a:r>
            <a:r>
              <a:rPr dirty="0" spc="85"/>
              <a:t> </a:t>
            </a:r>
            <a:r>
              <a:rPr dirty="0"/>
              <a:t>must</a:t>
            </a:r>
            <a:r>
              <a:rPr dirty="0" spc="85"/>
              <a:t> </a:t>
            </a:r>
            <a:r>
              <a:rPr dirty="0"/>
              <a:t>be</a:t>
            </a:r>
            <a:r>
              <a:rPr dirty="0" spc="70"/>
              <a:t> </a:t>
            </a:r>
            <a:r>
              <a:rPr dirty="0"/>
              <a:t>stored</a:t>
            </a:r>
            <a:r>
              <a:rPr dirty="0" spc="85"/>
              <a:t> </a:t>
            </a:r>
            <a:r>
              <a:rPr dirty="0"/>
              <a:t>securely</a:t>
            </a:r>
            <a:r>
              <a:rPr dirty="0" spc="95"/>
              <a:t> </a:t>
            </a:r>
            <a:r>
              <a:rPr dirty="0" spc="-25"/>
              <a:t>to </a:t>
            </a:r>
            <a:r>
              <a:rPr dirty="0"/>
              <a:t>maintain</a:t>
            </a:r>
            <a:r>
              <a:rPr dirty="0" spc="-85"/>
              <a:t> </a:t>
            </a:r>
            <a:r>
              <a:rPr dirty="0"/>
              <a:t>its</a:t>
            </a:r>
            <a:r>
              <a:rPr dirty="0" spc="-85"/>
              <a:t> </a:t>
            </a:r>
            <a:r>
              <a:rPr dirty="0" spc="-10"/>
              <a:t>confidentiality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 spc="-10"/>
              <a:t>integrity.</a:t>
            </a:r>
          </a:p>
          <a:p>
            <a:pPr marL="26670" marR="5715" indent="297815">
              <a:lnSpc>
                <a:spcPct val="101000"/>
              </a:lnSpc>
              <a:spcBef>
                <a:spcPts val="100"/>
              </a:spcBef>
              <a:buChar char="●"/>
              <a:tabLst>
                <a:tab pos="324485" algn="l"/>
                <a:tab pos="1653539" algn="l"/>
                <a:tab pos="3176270" algn="l"/>
                <a:tab pos="4137660" algn="l"/>
                <a:tab pos="5131435" algn="l"/>
                <a:tab pos="5737225" algn="l"/>
                <a:tab pos="7339330" algn="l"/>
                <a:tab pos="8395335" algn="l"/>
              </a:tabLst>
            </a:pPr>
            <a:r>
              <a:rPr dirty="0" spc="-10"/>
              <a:t>Increasing</a:t>
            </a:r>
            <a:r>
              <a:rPr dirty="0"/>
              <a:t>	</a:t>
            </a:r>
            <a:r>
              <a:rPr dirty="0" spc="-10"/>
              <a:t>cybercrimes</a:t>
            </a:r>
            <a:r>
              <a:rPr dirty="0"/>
              <a:t>	</a:t>
            </a:r>
            <a:r>
              <a:rPr dirty="0" spc="-10"/>
              <a:t>require</a:t>
            </a:r>
            <a:r>
              <a:rPr dirty="0"/>
              <a:t>	</a:t>
            </a:r>
            <a:r>
              <a:rPr dirty="0" spc="-10"/>
              <a:t>reliable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25"/>
              <a:t>tamper-</a:t>
            </a:r>
            <a:r>
              <a:rPr dirty="0" spc="-10"/>
              <a:t>proof</a:t>
            </a:r>
            <a:r>
              <a:rPr dirty="0"/>
              <a:t>	</a:t>
            </a:r>
            <a:r>
              <a:rPr dirty="0" spc="-10"/>
              <a:t>forensic</a:t>
            </a:r>
            <a:r>
              <a:rPr dirty="0"/>
              <a:t>	</a:t>
            </a:r>
            <a:r>
              <a:rPr dirty="0" spc="-20"/>
              <a:t>storage </a:t>
            </a:r>
            <a:r>
              <a:rPr dirty="0" spc="-10"/>
              <a:t>systems.</a:t>
            </a:r>
          </a:p>
          <a:p>
            <a:pPr marL="26670" marR="5080" indent="297815">
              <a:lnSpc>
                <a:spcPct val="101000"/>
              </a:lnSpc>
              <a:spcBef>
                <a:spcPts val="95"/>
              </a:spcBef>
              <a:buChar char="●"/>
              <a:tabLst>
                <a:tab pos="324485" algn="l"/>
              </a:tabLst>
            </a:pPr>
            <a:r>
              <a:rPr dirty="0"/>
              <a:t>Traditional</a:t>
            </a:r>
            <a:r>
              <a:rPr dirty="0" spc="295"/>
              <a:t> </a:t>
            </a:r>
            <a:r>
              <a:rPr dirty="0"/>
              <a:t>centralized</a:t>
            </a:r>
            <a:r>
              <a:rPr dirty="0" spc="305"/>
              <a:t> </a:t>
            </a:r>
            <a:r>
              <a:rPr dirty="0"/>
              <a:t>storage</a:t>
            </a:r>
            <a:r>
              <a:rPr dirty="0" spc="305"/>
              <a:t> </a:t>
            </a:r>
            <a:r>
              <a:rPr dirty="0"/>
              <a:t>systems</a:t>
            </a:r>
            <a:r>
              <a:rPr dirty="0" spc="295"/>
              <a:t> </a:t>
            </a:r>
            <a:r>
              <a:rPr dirty="0"/>
              <a:t>are</a:t>
            </a:r>
            <a:r>
              <a:rPr dirty="0" spc="305"/>
              <a:t> </a:t>
            </a:r>
            <a:r>
              <a:rPr dirty="0"/>
              <a:t>vulnerable</a:t>
            </a:r>
            <a:r>
              <a:rPr dirty="0" spc="300"/>
              <a:t> </a:t>
            </a:r>
            <a:r>
              <a:rPr dirty="0"/>
              <a:t>to</a:t>
            </a:r>
            <a:r>
              <a:rPr dirty="0" spc="305"/>
              <a:t> </a:t>
            </a:r>
            <a:r>
              <a:rPr dirty="0"/>
              <a:t>unauthorized</a:t>
            </a:r>
            <a:r>
              <a:rPr dirty="0" spc="305"/>
              <a:t> </a:t>
            </a:r>
            <a:r>
              <a:rPr dirty="0" spc="-10"/>
              <a:t>access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 spc="-10"/>
              <a:t>manipulation.</a:t>
            </a:r>
          </a:p>
          <a:p>
            <a:pPr marL="26670" marR="5080" indent="297815">
              <a:lnSpc>
                <a:spcPct val="100499"/>
              </a:lnSpc>
              <a:spcBef>
                <a:spcPts val="120"/>
              </a:spcBef>
              <a:buChar char="●"/>
              <a:tabLst>
                <a:tab pos="324485" algn="l"/>
              </a:tabLst>
            </a:pPr>
            <a:r>
              <a:rPr dirty="0"/>
              <a:t>The</a:t>
            </a:r>
            <a:r>
              <a:rPr dirty="0" spc="285"/>
              <a:t> </a:t>
            </a:r>
            <a:r>
              <a:rPr dirty="0"/>
              <a:t>proposed</a:t>
            </a:r>
            <a:r>
              <a:rPr dirty="0" spc="310"/>
              <a:t> </a:t>
            </a:r>
            <a:r>
              <a:rPr dirty="0"/>
              <a:t>system</a:t>
            </a:r>
            <a:r>
              <a:rPr dirty="0" spc="295"/>
              <a:t> </a:t>
            </a:r>
            <a:r>
              <a:rPr dirty="0"/>
              <a:t>uses</a:t>
            </a:r>
            <a:r>
              <a:rPr dirty="0" spc="315"/>
              <a:t> </a:t>
            </a:r>
            <a:r>
              <a:rPr dirty="0"/>
              <a:t>authentication,</a:t>
            </a:r>
            <a:r>
              <a:rPr dirty="0" spc="305"/>
              <a:t> </a:t>
            </a:r>
            <a:r>
              <a:rPr dirty="0"/>
              <a:t>optimal</a:t>
            </a:r>
            <a:r>
              <a:rPr dirty="0" spc="300"/>
              <a:t> </a:t>
            </a:r>
            <a:r>
              <a:rPr dirty="0"/>
              <a:t>key</a:t>
            </a:r>
            <a:r>
              <a:rPr dirty="0" spc="300"/>
              <a:t> </a:t>
            </a:r>
            <a:r>
              <a:rPr dirty="0"/>
              <a:t>generation,</a:t>
            </a:r>
            <a:r>
              <a:rPr dirty="0" spc="305"/>
              <a:t> </a:t>
            </a:r>
            <a:r>
              <a:rPr dirty="0" spc="-10"/>
              <a:t>encryption,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 spc="-10"/>
              <a:t>blockchain.</a:t>
            </a:r>
          </a:p>
          <a:p>
            <a:pPr marL="26670" marR="5080" indent="297815">
              <a:lnSpc>
                <a:spcPct val="101000"/>
              </a:lnSpc>
              <a:spcBef>
                <a:spcPts val="110"/>
              </a:spcBef>
              <a:buChar char="●"/>
              <a:tabLst>
                <a:tab pos="324485" algn="l"/>
              </a:tabLst>
            </a:pPr>
            <a:r>
              <a:rPr dirty="0"/>
              <a:t>These</a:t>
            </a:r>
            <a:r>
              <a:rPr dirty="0" spc="155"/>
              <a:t> </a:t>
            </a:r>
            <a:r>
              <a:rPr dirty="0"/>
              <a:t>technologies</a:t>
            </a:r>
            <a:r>
              <a:rPr dirty="0" spc="195"/>
              <a:t> </a:t>
            </a:r>
            <a:r>
              <a:rPr dirty="0"/>
              <a:t>together</a:t>
            </a:r>
            <a:r>
              <a:rPr dirty="0" spc="175"/>
              <a:t> </a:t>
            </a:r>
            <a:r>
              <a:rPr dirty="0"/>
              <a:t>ensure</a:t>
            </a:r>
            <a:r>
              <a:rPr dirty="0" spc="165"/>
              <a:t> </a:t>
            </a:r>
            <a:r>
              <a:rPr dirty="0"/>
              <a:t>secure,</a:t>
            </a:r>
            <a:r>
              <a:rPr dirty="0" spc="185"/>
              <a:t> </a:t>
            </a:r>
            <a:r>
              <a:rPr dirty="0"/>
              <a:t>decentralized,</a:t>
            </a:r>
            <a:r>
              <a:rPr dirty="0" spc="165"/>
              <a:t> </a:t>
            </a:r>
            <a:r>
              <a:rPr dirty="0"/>
              <a:t>and</a:t>
            </a:r>
            <a:r>
              <a:rPr dirty="0" spc="185"/>
              <a:t> </a:t>
            </a:r>
            <a:r>
              <a:rPr dirty="0"/>
              <a:t>trusted</a:t>
            </a:r>
            <a:r>
              <a:rPr dirty="0" spc="185"/>
              <a:t> </a:t>
            </a:r>
            <a:r>
              <a:rPr dirty="0" spc="-10"/>
              <a:t>forensic </a:t>
            </a:r>
            <a:r>
              <a:rPr dirty="0"/>
              <a:t>data</a:t>
            </a:r>
            <a:r>
              <a:rPr dirty="0" spc="-70"/>
              <a:t> </a:t>
            </a:r>
            <a:r>
              <a:rPr dirty="0" spc="-10"/>
              <a:t>storage.</a:t>
            </a:r>
          </a:p>
          <a:p>
            <a:pPr marL="26670" marR="5715" indent="297815">
              <a:lnSpc>
                <a:spcPct val="101000"/>
              </a:lnSpc>
              <a:spcBef>
                <a:spcPts val="95"/>
              </a:spcBef>
              <a:buChar char="●"/>
              <a:tabLst>
                <a:tab pos="324485" algn="l"/>
                <a:tab pos="1916430" algn="l"/>
                <a:tab pos="2989580" algn="l"/>
                <a:tab pos="3260725" algn="l"/>
                <a:tab pos="4209415" algn="l"/>
                <a:tab pos="5891530" algn="l"/>
                <a:tab pos="6442710" algn="l"/>
                <a:tab pos="7384415" algn="l"/>
                <a:tab pos="8387715" algn="l"/>
              </a:tabLst>
            </a:pPr>
            <a:r>
              <a:rPr dirty="0" spc="-10"/>
              <a:t>DFA-</a:t>
            </a:r>
            <a:r>
              <a:rPr dirty="0" spc="-20"/>
              <a:t>AOKGE</a:t>
            </a:r>
            <a:r>
              <a:rPr dirty="0"/>
              <a:t>	</a:t>
            </a:r>
            <a:r>
              <a:rPr dirty="0" spc="-10"/>
              <a:t>provides</a:t>
            </a:r>
            <a:r>
              <a:rPr dirty="0"/>
              <a:t>	</a:t>
            </a:r>
            <a:r>
              <a:rPr dirty="0" spc="-50"/>
              <a:t>a</a:t>
            </a:r>
            <a:r>
              <a:rPr dirty="0"/>
              <a:t>	</a:t>
            </a:r>
            <a:r>
              <a:rPr dirty="0" spc="-10"/>
              <a:t>secure,</a:t>
            </a:r>
            <a:r>
              <a:rPr dirty="0"/>
              <a:t>	</a:t>
            </a:r>
            <a:r>
              <a:rPr dirty="0" spc="-10"/>
              <a:t>decentralized,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reliable</a:t>
            </a:r>
            <a:r>
              <a:rPr dirty="0"/>
              <a:t>	</a:t>
            </a:r>
            <a:r>
              <a:rPr dirty="0" spc="-10"/>
              <a:t>forensic</a:t>
            </a:r>
            <a:r>
              <a:rPr dirty="0"/>
              <a:t>	</a:t>
            </a:r>
            <a:r>
              <a:rPr dirty="0" spc="-10"/>
              <a:t>storage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057655"/>
            <a:ext cx="10058400" cy="360045"/>
          </a:xfrm>
          <a:custGeom>
            <a:avLst/>
            <a:gdLst/>
            <a:ahLst/>
            <a:cxnLst/>
            <a:rect l="l" t="t" r="r" b="b"/>
            <a:pathLst>
              <a:path w="10058400" h="360044">
                <a:moveTo>
                  <a:pt x="10058400" y="359664"/>
                </a:moveTo>
                <a:lnTo>
                  <a:pt x="0" y="359664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359664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0" y="1057655"/>
            <a:ext cx="10058400" cy="19367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436880">
              <a:lnSpc>
                <a:spcPts val="1355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Improving</a:t>
            </a:r>
            <a:r>
              <a:rPr dirty="0" sz="1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dirty="0" sz="1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Forensic</a:t>
            </a:r>
            <a:r>
              <a:rPr dirty="0" sz="120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1232916"/>
            <a:ext cx="10058400" cy="673735"/>
            <a:chOff x="0" y="1232916"/>
            <a:chExt cx="10058400" cy="67373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32916"/>
              <a:ext cx="10058400" cy="67360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1251204"/>
              <a:ext cx="10058400" cy="589915"/>
            </a:xfrm>
            <a:custGeom>
              <a:avLst/>
              <a:gdLst/>
              <a:ahLst/>
              <a:cxnLst/>
              <a:rect l="l" t="t" r="r" b="b"/>
              <a:pathLst>
                <a:path w="10058400" h="589914">
                  <a:moveTo>
                    <a:pt x="10058400" y="589787"/>
                  </a:moveTo>
                  <a:lnTo>
                    <a:pt x="0" y="589787"/>
                  </a:lnTo>
                  <a:lnTo>
                    <a:pt x="0" y="0"/>
                  </a:lnTo>
                  <a:lnTo>
                    <a:pt x="10058400" y="0"/>
                  </a:lnTo>
                  <a:lnTo>
                    <a:pt x="10058400" y="589787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50820" y="1208024"/>
            <a:ext cx="1005205" cy="376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0" i="0">
                <a:solidFill>
                  <a:srgbClr val="000000"/>
                </a:solidFill>
                <a:latin typeface="Times New Roman"/>
                <a:cs typeface="Times New Roman"/>
              </a:rPr>
              <a:t>Abstract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20553" y="6508096"/>
            <a:ext cx="3252470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5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5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3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284473" y="2460750"/>
            <a:ext cx="9478645" cy="341439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715" indent="266700">
              <a:lnSpc>
                <a:spcPct val="101000"/>
              </a:lnSpc>
              <a:spcBef>
                <a:spcPts val="80"/>
              </a:spcBef>
              <a:buChar char="●"/>
              <a:tabLst>
                <a:tab pos="279400" algn="l"/>
              </a:tabLst>
            </a:pP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10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project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proposes</a:t>
            </a:r>
            <a:r>
              <a:rPr dirty="0" sz="1950" spc="10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</a:t>
            </a:r>
            <a:r>
              <a:rPr dirty="0" sz="1950" spc="9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Secure</a:t>
            </a:r>
            <a:r>
              <a:rPr dirty="0" sz="1950" spc="9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Digital</a:t>
            </a:r>
            <a:r>
              <a:rPr dirty="0" sz="1950" spc="10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Forensic</a:t>
            </a:r>
            <a:r>
              <a:rPr dirty="0" sz="1950" spc="9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Storage</a:t>
            </a:r>
            <a:r>
              <a:rPr dirty="0" sz="1950" spc="11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Model</a:t>
            </a:r>
            <a:r>
              <a:rPr dirty="0" sz="1950" spc="85">
                <a:latin typeface="Microsoft Sans Serif"/>
                <a:cs typeface="Microsoft Sans Serif"/>
              </a:rPr>
              <a:t> </a:t>
            </a:r>
            <a:r>
              <a:rPr dirty="0" sz="1950" spc="-35">
                <a:latin typeface="Microsoft Sans Serif"/>
                <a:cs typeface="Microsoft Sans Serif"/>
              </a:rPr>
              <a:t>(DFA-</a:t>
            </a:r>
            <a:r>
              <a:rPr dirty="0" sz="1950" spc="-10">
                <a:latin typeface="Microsoft Sans Serif"/>
                <a:cs typeface="Microsoft Sans Serif"/>
              </a:rPr>
              <a:t>AOKGE)Uses </a:t>
            </a:r>
            <a:r>
              <a:rPr dirty="0" sz="1950" spc="-30">
                <a:latin typeface="Microsoft Sans Serif"/>
                <a:cs typeface="Microsoft Sans Serif"/>
              </a:rPr>
              <a:t>authentication,</a:t>
            </a:r>
            <a:r>
              <a:rPr dirty="0" sz="1950" spc="-95">
                <a:latin typeface="Microsoft Sans Serif"/>
                <a:cs typeface="Microsoft Sans Serif"/>
              </a:rPr>
              <a:t> </a:t>
            </a:r>
            <a:r>
              <a:rPr dirty="0" sz="1950" spc="-20">
                <a:latin typeface="Microsoft Sans Serif"/>
                <a:cs typeface="Microsoft Sans Serif"/>
              </a:rPr>
              <a:t>optimal</a:t>
            </a:r>
            <a:r>
              <a:rPr dirty="0" sz="1950" spc="-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key</a:t>
            </a:r>
            <a:r>
              <a:rPr dirty="0" sz="1950" spc="-55">
                <a:latin typeface="Microsoft Sans Serif"/>
                <a:cs typeface="Microsoft Sans Serif"/>
              </a:rPr>
              <a:t> </a:t>
            </a:r>
            <a:r>
              <a:rPr dirty="0" sz="1950" spc="-30">
                <a:latin typeface="Microsoft Sans Serif"/>
                <a:cs typeface="Microsoft Sans Serif"/>
              </a:rPr>
              <a:t>generation,</a:t>
            </a:r>
            <a:r>
              <a:rPr dirty="0" sz="1950" spc="-9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-7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encryption</a:t>
            </a:r>
            <a:r>
              <a:rPr dirty="0" sz="1950" spc="-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for</a:t>
            </a:r>
            <a:r>
              <a:rPr dirty="0" sz="1950" spc="-60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protecting</a:t>
            </a:r>
            <a:r>
              <a:rPr dirty="0" sz="1950" spc="-90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forensic</a:t>
            </a:r>
            <a:r>
              <a:rPr dirty="0" sz="1950" spc="-8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data.</a:t>
            </a:r>
            <a:endParaRPr sz="1950">
              <a:latin typeface="Microsoft Sans Serif"/>
              <a:cs typeface="Microsoft Sans Serif"/>
            </a:endParaRPr>
          </a:p>
          <a:p>
            <a:pPr marL="279400" indent="-266700">
              <a:lnSpc>
                <a:spcPct val="100000"/>
              </a:lnSpc>
              <a:spcBef>
                <a:spcPts val="135"/>
              </a:spcBef>
              <a:buChar char="●"/>
              <a:tabLst>
                <a:tab pos="279400" algn="l"/>
              </a:tabLst>
            </a:pPr>
            <a:r>
              <a:rPr dirty="0" sz="1950" spc="-35">
                <a:latin typeface="Microsoft Sans Serif"/>
                <a:cs typeface="Microsoft Sans Serif"/>
              </a:rPr>
              <a:t>Blockchain-</a:t>
            </a:r>
            <a:r>
              <a:rPr dirty="0" sz="1950" spc="-25">
                <a:latin typeface="Microsoft Sans Serif"/>
                <a:cs typeface="Microsoft Sans Serif"/>
              </a:rPr>
              <a:t>based</a:t>
            </a:r>
            <a:r>
              <a:rPr dirty="0" sz="1950" spc="-7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distributed</a:t>
            </a:r>
            <a:r>
              <a:rPr dirty="0" sz="1950" spc="-70">
                <a:latin typeface="Microsoft Sans Serif"/>
                <a:cs typeface="Microsoft Sans Serif"/>
              </a:rPr>
              <a:t> </a:t>
            </a:r>
            <a:r>
              <a:rPr dirty="0" sz="1950" spc="-30">
                <a:latin typeface="Microsoft Sans Serif"/>
                <a:cs typeface="Microsoft Sans Serif"/>
              </a:rPr>
              <a:t>architecture</a:t>
            </a:r>
            <a:r>
              <a:rPr dirty="0" sz="1950" spc="-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is</a:t>
            </a:r>
            <a:r>
              <a:rPr dirty="0" sz="1950" spc="-2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used</a:t>
            </a:r>
            <a:r>
              <a:rPr dirty="0" sz="1950" spc="-5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for</a:t>
            </a:r>
            <a:r>
              <a:rPr dirty="0" sz="1950" spc="-45">
                <a:latin typeface="Microsoft Sans Serif"/>
                <a:cs typeface="Microsoft Sans Serif"/>
              </a:rPr>
              <a:t> </a:t>
            </a:r>
            <a:r>
              <a:rPr dirty="0" sz="1950" spc="-30">
                <a:latin typeface="Microsoft Sans Serif"/>
                <a:cs typeface="Microsoft Sans Serif"/>
              </a:rPr>
              <a:t>decentralized</a:t>
            </a:r>
            <a:r>
              <a:rPr dirty="0" sz="1950" spc="-5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evidence</a:t>
            </a:r>
            <a:r>
              <a:rPr dirty="0" sz="1950" spc="-7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storage.</a:t>
            </a:r>
            <a:endParaRPr sz="1950">
              <a:latin typeface="Microsoft Sans Serif"/>
              <a:cs typeface="Microsoft Sans Serif"/>
            </a:endParaRPr>
          </a:p>
          <a:p>
            <a:pPr marL="279400" indent="-266700">
              <a:lnSpc>
                <a:spcPct val="100000"/>
              </a:lnSpc>
              <a:spcBef>
                <a:spcPts val="120"/>
              </a:spcBef>
              <a:buChar char="●"/>
              <a:tabLst>
                <a:tab pos="279400" algn="l"/>
              </a:tabLst>
            </a:pPr>
            <a:r>
              <a:rPr dirty="0" sz="1950" spc="-25">
                <a:latin typeface="Microsoft Sans Serif"/>
                <a:cs typeface="Microsoft Sans Serif"/>
              </a:rPr>
              <a:t>Enhanced</a:t>
            </a:r>
            <a:r>
              <a:rPr dirty="0" sz="1950" spc="-75">
                <a:latin typeface="Microsoft Sans Serif"/>
                <a:cs typeface="Microsoft Sans Serif"/>
              </a:rPr>
              <a:t> </a:t>
            </a:r>
            <a:r>
              <a:rPr dirty="0" sz="1950" spc="-30">
                <a:latin typeface="Microsoft Sans Serif"/>
                <a:cs typeface="Microsoft Sans Serif"/>
              </a:rPr>
              <a:t>Equilibrium</a:t>
            </a:r>
            <a:r>
              <a:rPr dirty="0" sz="1950" spc="-4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Optimizer</a:t>
            </a:r>
            <a:r>
              <a:rPr dirty="0" sz="1950" spc="-65">
                <a:latin typeface="Microsoft Sans Serif"/>
                <a:cs typeface="Microsoft Sans Serif"/>
              </a:rPr>
              <a:t> </a:t>
            </a:r>
            <a:r>
              <a:rPr dirty="0" sz="1950" spc="-20">
                <a:latin typeface="Microsoft Sans Serif"/>
                <a:cs typeface="Microsoft Sans Serif"/>
              </a:rPr>
              <a:t>(EEO)</a:t>
            </a:r>
            <a:r>
              <a:rPr dirty="0" sz="1950" spc="-6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generates</a:t>
            </a:r>
            <a:r>
              <a:rPr dirty="0" sz="1950" spc="-60">
                <a:latin typeface="Microsoft Sans Serif"/>
                <a:cs typeface="Microsoft Sans Serif"/>
              </a:rPr>
              <a:t> </a:t>
            </a:r>
            <a:r>
              <a:rPr dirty="0" sz="1950" spc="-20">
                <a:latin typeface="Microsoft Sans Serif"/>
                <a:cs typeface="Microsoft Sans Serif"/>
              </a:rPr>
              <a:t>strong</a:t>
            </a:r>
            <a:r>
              <a:rPr dirty="0" sz="1950" spc="-35">
                <a:latin typeface="Microsoft Sans Serif"/>
                <a:cs typeface="Microsoft Sans Serif"/>
              </a:rPr>
              <a:t> </a:t>
            </a:r>
            <a:r>
              <a:rPr dirty="0" sz="1950" spc="-30">
                <a:latin typeface="Microsoft Sans Serif"/>
                <a:cs typeface="Microsoft Sans Serif"/>
              </a:rPr>
              <a:t>cryptographic</a:t>
            </a:r>
            <a:r>
              <a:rPr dirty="0" sz="1950" spc="-6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keys.</a:t>
            </a:r>
            <a:endParaRPr sz="1950">
              <a:latin typeface="Microsoft Sans Serif"/>
              <a:cs typeface="Microsoft Sans Serif"/>
            </a:endParaRPr>
          </a:p>
          <a:p>
            <a:pPr marL="279400" indent="-266700">
              <a:lnSpc>
                <a:spcPct val="100000"/>
              </a:lnSpc>
              <a:spcBef>
                <a:spcPts val="120"/>
              </a:spcBef>
              <a:buChar char="●"/>
              <a:tabLst>
                <a:tab pos="279400" algn="l"/>
              </a:tabLst>
            </a:pPr>
            <a:r>
              <a:rPr dirty="0" sz="1950" spc="-35">
                <a:latin typeface="Microsoft Sans Serif"/>
                <a:cs typeface="Microsoft Sans Serif"/>
              </a:rPr>
              <a:t>Multi-</a:t>
            </a:r>
            <a:r>
              <a:rPr dirty="0" sz="1950">
                <a:latin typeface="Microsoft Sans Serif"/>
                <a:cs typeface="Microsoft Sans Serif"/>
              </a:rPr>
              <a:t>Key</a:t>
            </a:r>
            <a:r>
              <a:rPr dirty="0" sz="1950" spc="-55">
                <a:latin typeface="Microsoft Sans Serif"/>
                <a:cs typeface="Microsoft Sans Serif"/>
              </a:rPr>
              <a:t> </a:t>
            </a:r>
            <a:r>
              <a:rPr dirty="0" sz="1950" spc="-30">
                <a:latin typeface="Microsoft Sans Serif"/>
                <a:cs typeface="Microsoft Sans Serif"/>
              </a:rPr>
              <a:t>Homomorphic</a:t>
            </a:r>
            <a:r>
              <a:rPr dirty="0" sz="1950" spc="-7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Encryption</a:t>
            </a:r>
            <a:r>
              <a:rPr dirty="0" sz="1950" spc="-85">
                <a:latin typeface="Microsoft Sans Serif"/>
                <a:cs typeface="Microsoft Sans Serif"/>
              </a:rPr>
              <a:t> </a:t>
            </a:r>
            <a:r>
              <a:rPr dirty="0" sz="1950" spc="-20">
                <a:latin typeface="Microsoft Sans Serif"/>
                <a:cs typeface="Microsoft Sans Serif"/>
              </a:rPr>
              <a:t>(MHE)</a:t>
            </a:r>
            <a:r>
              <a:rPr dirty="0" sz="1950" spc="-60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ensures</a:t>
            </a:r>
            <a:r>
              <a:rPr dirty="0" sz="1950" spc="-9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data</a:t>
            </a:r>
            <a:r>
              <a:rPr dirty="0" sz="1950" spc="-70">
                <a:latin typeface="Microsoft Sans Serif"/>
                <a:cs typeface="Microsoft Sans Serif"/>
              </a:rPr>
              <a:t> </a:t>
            </a:r>
            <a:r>
              <a:rPr dirty="0" sz="1950" spc="-30">
                <a:latin typeface="Microsoft Sans Serif"/>
                <a:cs typeface="Microsoft Sans Serif"/>
              </a:rPr>
              <a:t>confidentiality</a:t>
            </a:r>
            <a:r>
              <a:rPr dirty="0" sz="1950" spc="-7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and</a:t>
            </a:r>
            <a:r>
              <a:rPr dirty="0" sz="1950" spc="-4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privacy.</a:t>
            </a:r>
            <a:endParaRPr sz="1950">
              <a:latin typeface="Microsoft Sans Serif"/>
              <a:cs typeface="Microsoft Sans Serif"/>
            </a:endParaRPr>
          </a:p>
          <a:p>
            <a:pPr marL="12700" marR="5715" indent="266700">
              <a:lnSpc>
                <a:spcPct val="101000"/>
              </a:lnSpc>
              <a:spcBef>
                <a:spcPts val="95"/>
              </a:spcBef>
              <a:buChar char="●"/>
              <a:tabLst>
                <a:tab pos="279400" algn="l"/>
                <a:tab pos="871855" algn="l"/>
                <a:tab pos="1811020" algn="l"/>
                <a:tab pos="2672715" algn="l"/>
                <a:tab pos="3460115" algn="l"/>
                <a:tab pos="4990465" algn="l"/>
                <a:tab pos="6245225" algn="l"/>
                <a:tab pos="6617334" algn="l"/>
                <a:tab pos="7611109" algn="l"/>
                <a:tab pos="8629650" algn="l"/>
              </a:tabLst>
            </a:pPr>
            <a:r>
              <a:rPr dirty="0" sz="1950" spc="-25">
                <a:latin typeface="Microsoft Sans Serif"/>
                <a:cs typeface="Microsoft Sans Serif"/>
              </a:rPr>
              <a:t>The</a:t>
            </a:r>
            <a:r>
              <a:rPr dirty="0" sz="1950">
                <a:latin typeface="Microsoft Sans Serif"/>
                <a:cs typeface="Microsoft Sans Serif"/>
              </a:rPr>
              <a:t>	</a:t>
            </a:r>
            <a:r>
              <a:rPr dirty="0" sz="1950" spc="-10">
                <a:latin typeface="Microsoft Sans Serif"/>
                <a:cs typeface="Microsoft Sans Serif"/>
              </a:rPr>
              <a:t>system</a:t>
            </a:r>
            <a:r>
              <a:rPr dirty="0" sz="1950">
                <a:latin typeface="Microsoft Sans Serif"/>
                <a:cs typeface="Microsoft Sans Serif"/>
              </a:rPr>
              <a:t>	</a:t>
            </a:r>
            <a:r>
              <a:rPr dirty="0" sz="1950" spc="-20">
                <a:latin typeface="Microsoft Sans Serif"/>
                <a:cs typeface="Microsoft Sans Serif"/>
              </a:rPr>
              <a:t>shows</a:t>
            </a:r>
            <a:r>
              <a:rPr dirty="0" sz="1950">
                <a:latin typeface="Microsoft Sans Serif"/>
                <a:cs typeface="Microsoft Sans Serif"/>
              </a:rPr>
              <a:t>	</a:t>
            </a:r>
            <a:r>
              <a:rPr dirty="0" sz="1950" spc="-10">
                <a:latin typeface="Microsoft Sans Serif"/>
                <a:cs typeface="Microsoft Sans Serif"/>
              </a:rPr>
              <a:t>better</a:t>
            </a:r>
            <a:r>
              <a:rPr dirty="0" sz="1950">
                <a:latin typeface="Microsoft Sans Serif"/>
                <a:cs typeface="Microsoft Sans Serif"/>
              </a:rPr>
              <a:t>	</a:t>
            </a:r>
            <a:r>
              <a:rPr dirty="0" sz="1950" spc="-10">
                <a:latin typeface="Microsoft Sans Serif"/>
                <a:cs typeface="Microsoft Sans Serif"/>
              </a:rPr>
              <a:t>performance</a:t>
            </a:r>
            <a:r>
              <a:rPr dirty="0" sz="1950">
                <a:latin typeface="Microsoft Sans Serif"/>
                <a:cs typeface="Microsoft Sans Serif"/>
              </a:rPr>
              <a:t>	</a:t>
            </a:r>
            <a:r>
              <a:rPr dirty="0" sz="1950" spc="-10">
                <a:latin typeface="Microsoft Sans Serif"/>
                <a:cs typeface="Microsoft Sans Serif"/>
              </a:rPr>
              <a:t>compared</a:t>
            </a:r>
            <a:r>
              <a:rPr dirty="0" sz="1950">
                <a:latin typeface="Microsoft Sans Serif"/>
                <a:cs typeface="Microsoft Sans Serif"/>
              </a:rPr>
              <a:t>	</a:t>
            </a:r>
            <a:r>
              <a:rPr dirty="0" sz="1950" spc="-25">
                <a:latin typeface="Microsoft Sans Serif"/>
                <a:cs typeface="Microsoft Sans Serif"/>
              </a:rPr>
              <a:t>to</a:t>
            </a:r>
            <a:r>
              <a:rPr dirty="0" sz="1950">
                <a:latin typeface="Microsoft Sans Serif"/>
                <a:cs typeface="Microsoft Sans Serif"/>
              </a:rPr>
              <a:t>	</a:t>
            </a:r>
            <a:r>
              <a:rPr dirty="0" sz="1950" spc="-10">
                <a:latin typeface="Microsoft Sans Serif"/>
                <a:cs typeface="Microsoft Sans Serif"/>
              </a:rPr>
              <a:t>existing</a:t>
            </a:r>
            <a:r>
              <a:rPr dirty="0" sz="1950">
                <a:latin typeface="Microsoft Sans Serif"/>
                <a:cs typeface="Microsoft Sans Serif"/>
              </a:rPr>
              <a:t>	</a:t>
            </a:r>
            <a:r>
              <a:rPr dirty="0" sz="1950" spc="-10">
                <a:latin typeface="Microsoft Sans Serif"/>
                <a:cs typeface="Microsoft Sans Serif"/>
              </a:rPr>
              <a:t>forensic</a:t>
            </a:r>
            <a:r>
              <a:rPr dirty="0" sz="1950">
                <a:latin typeface="Microsoft Sans Serif"/>
                <a:cs typeface="Microsoft Sans Serif"/>
              </a:rPr>
              <a:t>	</a:t>
            </a:r>
            <a:r>
              <a:rPr dirty="0" sz="1950" spc="-30">
                <a:latin typeface="Microsoft Sans Serif"/>
                <a:cs typeface="Microsoft Sans Serif"/>
              </a:rPr>
              <a:t>security </a:t>
            </a:r>
            <a:r>
              <a:rPr dirty="0" sz="1950" spc="-10">
                <a:latin typeface="Microsoft Sans Serif"/>
                <a:cs typeface="Microsoft Sans Serif"/>
              </a:rPr>
              <a:t>methods.</a:t>
            </a:r>
            <a:endParaRPr sz="1950">
              <a:latin typeface="Microsoft Sans Serif"/>
              <a:cs typeface="Microsoft Sans Serif"/>
            </a:endParaRPr>
          </a:p>
          <a:p>
            <a:pPr marL="279400" indent="-266700">
              <a:lnSpc>
                <a:spcPct val="100000"/>
              </a:lnSpc>
              <a:spcBef>
                <a:spcPts val="130"/>
              </a:spcBef>
              <a:buChar char="●"/>
              <a:tabLst>
                <a:tab pos="279400" algn="l"/>
              </a:tabLst>
            </a:pP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-85">
                <a:latin typeface="Microsoft Sans Serif"/>
                <a:cs typeface="Microsoft Sans Serif"/>
              </a:rPr>
              <a:t> </a:t>
            </a:r>
            <a:r>
              <a:rPr dirty="0" sz="1950" spc="-20">
                <a:latin typeface="Microsoft Sans Serif"/>
                <a:cs typeface="Microsoft Sans Serif"/>
              </a:rPr>
              <a:t>system</a:t>
            </a:r>
            <a:r>
              <a:rPr dirty="0" sz="1950" spc="-90">
                <a:latin typeface="Microsoft Sans Serif"/>
                <a:cs typeface="Microsoft Sans Serif"/>
              </a:rPr>
              <a:t> </a:t>
            </a:r>
            <a:r>
              <a:rPr dirty="0" sz="1950" spc="-20">
                <a:latin typeface="Microsoft Sans Serif"/>
                <a:cs typeface="Microsoft Sans Serif"/>
              </a:rPr>
              <a:t>uses</a:t>
            </a:r>
            <a:r>
              <a:rPr dirty="0" sz="1950" spc="-85">
                <a:latin typeface="Microsoft Sans Serif"/>
                <a:cs typeface="Microsoft Sans Serif"/>
              </a:rPr>
              <a:t> </a:t>
            </a:r>
            <a:r>
              <a:rPr dirty="0" sz="1950" spc="-20">
                <a:latin typeface="Microsoft Sans Serif"/>
                <a:cs typeface="Microsoft Sans Serif"/>
              </a:rPr>
              <a:t>strong</a:t>
            </a:r>
            <a:r>
              <a:rPr dirty="0" sz="1950" spc="-60">
                <a:latin typeface="Microsoft Sans Serif"/>
                <a:cs typeface="Microsoft Sans Serif"/>
              </a:rPr>
              <a:t> </a:t>
            </a:r>
            <a:r>
              <a:rPr dirty="0" sz="1950" spc="-30">
                <a:latin typeface="Microsoft Sans Serif"/>
                <a:cs typeface="Microsoft Sans Serif"/>
              </a:rPr>
              <a:t>authentication</a:t>
            </a:r>
            <a:r>
              <a:rPr dirty="0" sz="1950" spc="-80">
                <a:latin typeface="Microsoft Sans Serif"/>
                <a:cs typeface="Microsoft Sans Serif"/>
              </a:rPr>
              <a:t> </a:t>
            </a:r>
            <a:r>
              <a:rPr dirty="0" sz="1950" spc="-30">
                <a:latin typeface="Microsoft Sans Serif"/>
                <a:cs typeface="Microsoft Sans Serif"/>
              </a:rPr>
              <a:t>mechanisms</a:t>
            </a:r>
            <a:r>
              <a:rPr dirty="0" sz="1950" spc="-8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to</a:t>
            </a:r>
            <a:r>
              <a:rPr dirty="0" sz="1950" spc="-60">
                <a:latin typeface="Microsoft Sans Serif"/>
                <a:cs typeface="Microsoft Sans Serif"/>
              </a:rPr>
              <a:t> </a:t>
            </a:r>
            <a:r>
              <a:rPr dirty="0" sz="1950" spc="-20">
                <a:latin typeface="Microsoft Sans Serif"/>
                <a:cs typeface="Microsoft Sans Serif"/>
              </a:rPr>
              <a:t>allow</a:t>
            </a:r>
            <a:r>
              <a:rPr dirty="0" sz="1950" spc="-5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only</a:t>
            </a:r>
            <a:r>
              <a:rPr dirty="0" sz="1950" spc="-6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authorized</a:t>
            </a:r>
            <a:r>
              <a:rPr dirty="0" sz="1950" spc="-8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users.</a:t>
            </a:r>
            <a:endParaRPr sz="1950">
              <a:latin typeface="Microsoft Sans Serif"/>
              <a:cs typeface="Microsoft Sans Serif"/>
            </a:endParaRPr>
          </a:p>
          <a:p>
            <a:pPr marL="12700" marR="5080" indent="266700">
              <a:lnSpc>
                <a:spcPct val="101000"/>
              </a:lnSpc>
              <a:spcBef>
                <a:spcPts val="100"/>
              </a:spcBef>
              <a:buChar char="●"/>
              <a:tabLst>
                <a:tab pos="279400" algn="l"/>
              </a:tabLst>
            </a:pPr>
            <a:r>
              <a:rPr dirty="0" sz="1950">
                <a:latin typeface="Microsoft Sans Serif"/>
                <a:cs typeface="Microsoft Sans Serif"/>
              </a:rPr>
              <a:t>Optimal</a:t>
            </a:r>
            <a:r>
              <a:rPr dirty="0" sz="1950" spc="-55">
                <a:latin typeface="Microsoft Sans Serif"/>
                <a:cs typeface="Microsoft Sans Serif"/>
              </a:rPr>
              <a:t> </a:t>
            </a:r>
            <a:r>
              <a:rPr dirty="0" sz="1950" spc="-20">
                <a:latin typeface="Microsoft Sans Serif"/>
                <a:cs typeface="Microsoft Sans Serif"/>
              </a:rPr>
              <a:t>cryptographic</a:t>
            </a:r>
            <a:r>
              <a:rPr dirty="0" sz="1950" spc="-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keys</a:t>
            </a:r>
            <a:r>
              <a:rPr dirty="0" sz="1950" spc="-4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are</a:t>
            </a:r>
            <a:r>
              <a:rPr dirty="0" sz="1950" spc="-3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generated</a:t>
            </a:r>
            <a:r>
              <a:rPr dirty="0" sz="1950" spc="-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using</a:t>
            </a:r>
            <a:r>
              <a:rPr dirty="0" sz="1950" spc="-4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the</a:t>
            </a:r>
            <a:r>
              <a:rPr dirty="0" sz="1950" spc="-35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Enhanced</a:t>
            </a:r>
            <a:r>
              <a:rPr dirty="0" sz="1950" spc="-3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Equilibrium</a:t>
            </a:r>
            <a:r>
              <a:rPr dirty="0" sz="1950" spc="-4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Optimizer </a:t>
            </a:r>
            <a:r>
              <a:rPr dirty="0" sz="1950" spc="-30">
                <a:latin typeface="Microsoft Sans Serif"/>
                <a:cs typeface="Microsoft Sans Serif"/>
              </a:rPr>
              <a:t>(EEO)Forensic</a:t>
            </a:r>
            <a:r>
              <a:rPr dirty="0" sz="1950" spc="-6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data</a:t>
            </a:r>
            <a:r>
              <a:rPr dirty="0" sz="1950" spc="-60">
                <a:latin typeface="Microsoft Sans Serif"/>
                <a:cs typeface="Microsoft Sans Serif"/>
              </a:rPr>
              <a:t> </a:t>
            </a:r>
            <a:r>
              <a:rPr dirty="0" sz="1950">
                <a:latin typeface="Microsoft Sans Serif"/>
                <a:cs typeface="Microsoft Sans Serif"/>
              </a:rPr>
              <a:t>is</a:t>
            </a:r>
            <a:r>
              <a:rPr dirty="0" sz="1950" spc="-4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encrypted</a:t>
            </a:r>
            <a:r>
              <a:rPr dirty="0" sz="1950" spc="-9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using</a:t>
            </a:r>
            <a:r>
              <a:rPr dirty="0" sz="1950" spc="-60">
                <a:latin typeface="Microsoft Sans Serif"/>
                <a:cs typeface="Microsoft Sans Serif"/>
              </a:rPr>
              <a:t> </a:t>
            </a:r>
            <a:r>
              <a:rPr dirty="0" sz="1950" spc="-35">
                <a:latin typeface="Microsoft Sans Serif"/>
                <a:cs typeface="Microsoft Sans Serif"/>
              </a:rPr>
              <a:t>Multi-</a:t>
            </a:r>
            <a:r>
              <a:rPr dirty="0" sz="1950" spc="-10">
                <a:latin typeface="Microsoft Sans Serif"/>
                <a:cs typeface="Microsoft Sans Serif"/>
              </a:rPr>
              <a:t>Key</a:t>
            </a:r>
            <a:r>
              <a:rPr dirty="0" sz="1950" spc="-8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Homomorphic</a:t>
            </a:r>
            <a:r>
              <a:rPr dirty="0" sz="1950" spc="-85">
                <a:latin typeface="Microsoft Sans Serif"/>
                <a:cs typeface="Microsoft Sans Serif"/>
              </a:rPr>
              <a:t> </a:t>
            </a:r>
            <a:r>
              <a:rPr dirty="0" sz="1950" spc="-30">
                <a:latin typeface="Microsoft Sans Serif"/>
                <a:cs typeface="Microsoft Sans Serif"/>
              </a:rPr>
              <a:t>Encryption</a:t>
            </a:r>
            <a:r>
              <a:rPr dirty="0" sz="1950" spc="-95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(MHE).</a:t>
            </a:r>
            <a:endParaRPr sz="1950">
              <a:latin typeface="Microsoft Sans Serif"/>
              <a:cs typeface="Microsoft Sans Serif"/>
            </a:endParaRPr>
          </a:p>
          <a:p>
            <a:pPr marL="279400" indent="-266700">
              <a:lnSpc>
                <a:spcPct val="100000"/>
              </a:lnSpc>
              <a:spcBef>
                <a:spcPts val="120"/>
              </a:spcBef>
              <a:buChar char="●"/>
              <a:tabLst>
                <a:tab pos="279400" algn="l"/>
              </a:tabLst>
            </a:pPr>
            <a:r>
              <a:rPr dirty="0" sz="1950" spc="-30">
                <a:latin typeface="Microsoft Sans Serif"/>
                <a:cs typeface="Microsoft Sans Serif"/>
              </a:rPr>
              <a:t>Blockchain</a:t>
            </a:r>
            <a:r>
              <a:rPr dirty="0" sz="1950" spc="-70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technology</a:t>
            </a:r>
            <a:r>
              <a:rPr dirty="0" sz="1950" spc="-55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ensures</a:t>
            </a:r>
            <a:r>
              <a:rPr dirty="0" sz="1950" spc="-55">
                <a:latin typeface="Microsoft Sans Serif"/>
                <a:cs typeface="Microsoft Sans Serif"/>
              </a:rPr>
              <a:t> </a:t>
            </a:r>
            <a:r>
              <a:rPr dirty="0" sz="1950" spc="-35">
                <a:latin typeface="Microsoft Sans Serif"/>
                <a:cs typeface="Microsoft Sans Serif"/>
              </a:rPr>
              <a:t>tamper-</a:t>
            </a:r>
            <a:r>
              <a:rPr dirty="0" sz="1950" spc="-20">
                <a:latin typeface="Microsoft Sans Serif"/>
                <a:cs typeface="Microsoft Sans Serif"/>
              </a:rPr>
              <a:t>proof</a:t>
            </a:r>
            <a:r>
              <a:rPr dirty="0" sz="1950" spc="-5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and</a:t>
            </a:r>
            <a:r>
              <a:rPr dirty="0" sz="1950" spc="-50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transparent</a:t>
            </a:r>
            <a:r>
              <a:rPr dirty="0" sz="1950" spc="-70">
                <a:latin typeface="Microsoft Sans Serif"/>
                <a:cs typeface="Microsoft Sans Serif"/>
              </a:rPr>
              <a:t> </a:t>
            </a:r>
            <a:r>
              <a:rPr dirty="0" sz="1950" spc="-25">
                <a:latin typeface="Microsoft Sans Serif"/>
                <a:cs typeface="Microsoft Sans Serif"/>
              </a:rPr>
              <a:t>evidence</a:t>
            </a:r>
            <a:r>
              <a:rPr dirty="0" sz="1950" spc="-50">
                <a:latin typeface="Microsoft Sans Serif"/>
                <a:cs typeface="Microsoft Sans Serif"/>
              </a:rPr>
              <a:t> </a:t>
            </a:r>
            <a:r>
              <a:rPr dirty="0" sz="1950" spc="-10">
                <a:latin typeface="Microsoft Sans Serif"/>
                <a:cs typeface="Microsoft Sans Serif"/>
              </a:rPr>
              <a:t>storage.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057655"/>
            <a:ext cx="10058400" cy="360045"/>
          </a:xfrm>
          <a:custGeom>
            <a:avLst/>
            <a:gdLst/>
            <a:ahLst/>
            <a:cxnLst/>
            <a:rect l="l" t="t" r="r" b="b"/>
            <a:pathLst>
              <a:path w="10058400" h="360044">
                <a:moveTo>
                  <a:pt x="10058400" y="359664"/>
                </a:moveTo>
                <a:lnTo>
                  <a:pt x="0" y="359664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359664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0" y="1057655"/>
            <a:ext cx="10058400" cy="19367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442595">
              <a:lnSpc>
                <a:spcPts val="1355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Improving</a:t>
            </a:r>
            <a:r>
              <a:rPr dirty="0" sz="1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dirty="0" sz="1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Forensic</a:t>
            </a:r>
            <a:r>
              <a:rPr dirty="0" sz="120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1232916"/>
            <a:ext cx="10058400" cy="673735"/>
            <a:chOff x="0" y="1232916"/>
            <a:chExt cx="10058400" cy="67373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32916"/>
              <a:ext cx="10058400" cy="67360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1251204"/>
              <a:ext cx="10058400" cy="589915"/>
            </a:xfrm>
            <a:custGeom>
              <a:avLst/>
              <a:gdLst/>
              <a:ahLst/>
              <a:cxnLst/>
              <a:rect l="l" t="t" r="r" b="b"/>
              <a:pathLst>
                <a:path w="10058400" h="589914">
                  <a:moveTo>
                    <a:pt x="10058400" y="589787"/>
                  </a:moveTo>
                  <a:lnTo>
                    <a:pt x="0" y="589787"/>
                  </a:lnTo>
                  <a:lnTo>
                    <a:pt x="0" y="0"/>
                  </a:lnTo>
                  <a:lnTo>
                    <a:pt x="10058400" y="0"/>
                  </a:lnTo>
                  <a:lnTo>
                    <a:pt x="10058400" y="589787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0" y="1417319"/>
            <a:ext cx="10058400" cy="424180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2570"/>
              </a:lnSpc>
            </a:pP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dirty="0" sz="3600" spc="-15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10" i="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20553" y="6508096"/>
            <a:ext cx="3252470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5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5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3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346941" y="2085873"/>
            <a:ext cx="9068435" cy="3536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9734" indent="-407034">
              <a:lnSpc>
                <a:spcPct val="100000"/>
              </a:lnSpc>
              <a:spcBef>
                <a:spcPts val="105"/>
              </a:spcBef>
              <a:buChar char="□"/>
              <a:tabLst>
                <a:tab pos="419734" algn="l"/>
              </a:tabLst>
            </a:pPr>
            <a:r>
              <a:rPr dirty="0" sz="2000">
                <a:latin typeface="Times New Roman"/>
                <a:cs typeface="Times New Roman"/>
              </a:rPr>
              <a:t>Digital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forensic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evidence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often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centralized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cloud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systems.</a:t>
            </a:r>
            <a:endParaRPr sz="2000">
              <a:latin typeface="Times New Roman"/>
              <a:cs typeface="Times New Roman"/>
            </a:endParaRPr>
          </a:p>
          <a:p>
            <a:pPr marL="419734" indent="-407034">
              <a:lnSpc>
                <a:spcPct val="100000"/>
              </a:lnSpc>
              <a:spcBef>
                <a:spcPts val="114"/>
              </a:spcBef>
              <a:buChar char="□"/>
              <a:tabLst>
                <a:tab pos="419734" algn="l"/>
              </a:tabLst>
            </a:pPr>
            <a:r>
              <a:rPr dirty="0" sz="2000">
                <a:latin typeface="Times New Roman"/>
                <a:cs typeface="Times New Roman"/>
              </a:rPr>
              <a:t>Such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prone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tampering,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unauthorized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access,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integrity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loss.</a:t>
            </a:r>
            <a:endParaRPr sz="2000">
              <a:latin typeface="Times New Roman"/>
              <a:cs typeface="Times New Roman"/>
            </a:endParaRPr>
          </a:p>
          <a:p>
            <a:pPr marL="419734" indent="-407034">
              <a:lnSpc>
                <a:spcPct val="100000"/>
              </a:lnSpc>
              <a:spcBef>
                <a:spcPts val="120"/>
              </a:spcBef>
              <a:buChar char="□"/>
              <a:tabLst>
                <a:tab pos="419734" algn="l"/>
              </a:tabLst>
            </a:pPr>
            <a:r>
              <a:rPr dirty="0" sz="2000">
                <a:latin typeface="Times New Roman"/>
                <a:cs typeface="Times New Roman"/>
              </a:rPr>
              <a:t>Existing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forensic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solutions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lack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optimized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key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strong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authentication.</a:t>
            </a:r>
            <a:endParaRPr sz="2000">
              <a:latin typeface="Times New Roman"/>
              <a:cs typeface="Times New Roman"/>
            </a:endParaRPr>
          </a:p>
          <a:p>
            <a:pPr marL="419734" indent="-407034">
              <a:lnSpc>
                <a:spcPct val="100000"/>
              </a:lnSpc>
              <a:spcBef>
                <a:spcPts val="135"/>
              </a:spcBef>
              <a:buChar char="□"/>
              <a:tabLst>
                <a:tab pos="419734" algn="l"/>
              </a:tabLst>
            </a:pPr>
            <a:r>
              <a:rPr dirty="0" sz="2000">
                <a:latin typeface="Times New Roman"/>
                <a:cs typeface="Times New Roman"/>
              </a:rPr>
              <a:t>Maintaining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chain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custody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cloud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environments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difficult.</a:t>
            </a:r>
            <a:endParaRPr sz="2000">
              <a:latin typeface="Times New Roman"/>
              <a:cs typeface="Times New Roman"/>
            </a:endParaRPr>
          </a:p>
          <a:p>
            <a:pPr marL="419734" indent="-407034">
              <a:lnSpc>
                <a:spcPct val="100000"/>
              </a:lnSpc>
              <a:spcBef>
                <a:spcPts val="120"/>
              </a:spcBef>
              <a:buChar char="□"/>
              <a:tabLst>
                <a:tab pos="419734" algn="l"/>
              </a:tabLst>
            </a:pPr>
            <a:r>
              <a:rPr dirty="0" sz="2000">
                <a:latin typeface="Times New Roman"/>
                <a:cs typeface="Times New Roman"/>
              </a:rPr>
              <a:t>Centralized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forensic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storage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reduces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reliability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trust.</a:t>
            </a:r>
            <a:endParaRPr sz="2000">
              <a:latin typeface="Times New Roman"/>
              <a:cs typeface="Times New Roman"/>
            </a:endParaRPr>
          </a:p>
          <a:p>
            <a:pPr marL="419734" indent="-407034">
              <a:lnSpc>
                <a:spcPct val="100000"/>
              </a:lnSpc>
              <a:spcBef>
                <a:spcPts val="120"/>
              </a:spcBef>
              <a:buChar char="□"/>
              <a:tabLst>
                <a:tab pos="419734" algn="l"/>
              </a:tabLst>
            </a:pPr>
            <a:r>
              <a:rPr dirty="0" sz="2000">
                <a:latin typeface="Times New Roman"/>
                <a:cs typeface="Times New Roman"/>
              </a:rPr>
              <a:t>Existing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lack:</a:t>
            </a:r>
            <a:endParaRPr sz="2000">
              <a:latin typeface="Times New Roman"/>
              <a:cs typeface="Times New Roman"/>
            </a:endParaRPr>
          </a:p>
          <a:p>
            <a:pPr marL="419100" indent="-4064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419100" algn="l"/>
              </a:tabLst>
            </a:pPr>
            <a:r>
              <a:rPr dirty="0" sz="2000">
                <a:latin typeface="Times New Roman"/>
                <a:cs typeface="Times New Roman"/>
              </a:rPr>
              <a:t>Optimized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key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generation.</a:t>
            </a:r>
            <a:endParaRPr sz="2000">
              <a:latin typeface="Times New Roman"/>
              <a:cs typeface="Times New Roman"/>
            </a:endParaRPr>
          </a:p>
          <a:p>
            <a:pPr marL="419100" indent="-406400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419100" algn="l"/>
              </a:tabLst>
            </a:pPr>
            <a:r>
              <a:rPr dirty="0" sz="2000">
                <a:latin typeface="Times New Roman"/>
                <a:cs typeface="Times New Roman"/>
              </a:rPr>
              <a:t>Strong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authentication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mechanism.</a:t>
            </a:r>
            <a:endParaRPr sz="2000">
              <a:latin typeface="Times New Roman"/>
              <a:cs typeface="Times New Roman"/>
            </a:endParaRPr>
          </a:p>
          <a:p>
            <a:pPr marL="419100" indent="-406400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419100" algn="l"/>
              </a:tabLst>
            </a:pPr>
            <a:r>
              <a:rPr dirty="0" sz="2000" spc="-10">
                <a:latin typeface="Times New Roman"/>
                <a:cs typeface="Times New Roman"/>
              </a:rPr>
              <a:t>Tamper-</a:t>
            </a:r>
            <a:r>
              <a:rPr dirty="0" sz="2000">
                <a:latin typeface="Times New Roman"/>
                <a:cs typeface="Times New Roman"/>
              </a:rPr>
              <a:t>proof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evidence</a:t>
            </a:r>
            <a:r>
              <a:rPr dirty="0" sz="2000" spc="-10">
                <a:latin typeface="Times New Roman"/>
                <a:cs typeface="Times New Roman"/>
              </a:rPr>
              <a:t> tracking.</a:t>
            </a:r>
            <a:endParaRPr sz="2000">
              <a:latin typeface="Times New Roman"/>
              <a:cs typeface="Times New Roman"/>
            </a:endParaRPr>
          </a:p>
          <a:p>
            <a:pPr marL="419100" indent="-406400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419100" algn="l"/>
              </a:tabLst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secure,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decentralized,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authenticated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storage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0">
                <a:latin typeface="Times New Roman"/>
                <a:cs typeface="Times New Roman"/>
              </a:rPr>
              <a:t> required.</a:t>
            </a:r>
            <a:endParaRPr sz="2000">
              <a:latin typeface="Times New Roman"/>
              <a:cs typeface="Times New Roman"/>
            </a:endParaRPr>
          </a:p>
          <a:p>
            <a:pPr marL="419734" indent="-407034">
              <a:lnSpc>
                <a:spcPct val="100000"/>
              </a:lnSpc>
              <a:spcBef>
                <a:spcPts val="120"/>
              </a:spcBef>
              <a:buChar char="□"/>
              <a:tabLst>
                <a:tab pos="419734" algn="l"/>
              </a:tabLst>
            </a:pPr>
            <a:r>
              <a:rPr dirty="0" sz="2000">
                <a:latin typeface="Times New Roman"/>
                <a:cs typeface="Times New Roman"/>
              </a:rPr>
              <a:t>Hence,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secure,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decentralized,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authenticated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forensic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storage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required.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057655"/>
            <a:ext cx="10058400" cy="360045"/>
          </a:xfrm>
          <a:custGeom>
            <a:avLst/>
            <a:gdLst/>
            <a:ahLst/>
            <a:cxnLst/>
            <a:rect l="l" t="t" r="r" b="b"/>
            <a:pathLst>
              <a:path w="10058400" h="360044">
                <a:moveTo>
                  <a:pt x="10058400" y="359664"/>
                </a:moveTo>
                <a:lnTo>
                  <a:pt x="0" y="359664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359664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0" y="1057655"/>
            <a:ext cx="10058400" cy="19367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3810">
              <a:lnSpc>
                <a:spcPts val="1355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Improving</a:t>
            </a:r>
            <a:r>
              <a:rPr dirty="0" sz="1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dirty="0" sz="1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Forensic</a:t>
            </a:r>
            <a:r>
              <a:rPr dirty="0" sz="120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1232916"/>
            <a:ext cx="10058400" cy="673735"/>
            <a:chOff x="0" y="1232916"/>
            <a:chExt cx="10058400" cy="67373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32916"/>
              <a:ext cx="10058400" cy="67360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1251204"/>
              <a:ext cx="10058400" cy="589915"/>
            </a:xfrm>
            <a:custGeom>
              <a:avLst/>
              <a:gdLst/>
              <a:ahLst/>
              <a:cxnLst/>
              <a:rect l="l" t="t" r="r" b="b"/>
              <a:pathLst>
                <a:path w="10058400" h="589914">
                  <a:moveTo>
                    <a:pt x="10058400" y="589787"/>
                  </a:moveTo>
                  <a:lnTo>
                    <a:pt x="0" y="589787"/>
                  </a:lnTo>
                  <a:lnTo>
                    <a:pt x="0" y="0"/>
                  </a:lnTo>
                  <a:lnTo>
                    <a:pt x="10058400" y="0"/>
                  </a:lnTo>
                  <a:lnTo>
                    <a:pt x="10058400" y="589787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0" y="1417319"/>
            <a:ext cx="10058400" cy="424180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2570"/>
              </a:lnSpc>
            </a:pP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r>
              <a:rPr dirty="0" sz="3600" spc="-105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3600" spc="2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10" i="0">
                <a:solidFill>
                  <a:srgbClr val="FFFFFF"/>
                </a:solidFill>
                <a:latin typeface="Times New Roman"/>
                <a:cs typeface="Times New Roman"/>
              </a:rPr>
              <a:t>Project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20553" y="6508096"/>
            <a:ext cx="3252470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5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5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3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503896" y="2384043"/>
            <a:ext cx="8353425" cy="350202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227965" indent="-215265">
              <a:lnSpc>
                <a:spcPct val="100000"/>
              </a:lnSpc>
              <a:spcBef>
                <a:spcPts val="254"/>
              </a:spcBef>
              <a:buChar char="●"/>
              <a:tabLst>
                <a:tab pos="227965" algn="l"/>
              </a:tabLst>
            </a:pP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objective</a:t>
            </a:r>
            <a:r>
              <a:rPr dirty="0" sz="1950" spc="-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of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this</a:t>
            </a:r>
            <a:r>
              <a:rPr dirty="0" sz="1950" spc="-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project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is</a:t>
            </a:r>
            <a:r>
              <a:rPr dirty="0" sz="1950" spc="-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enhance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security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of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digital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forensic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evidence</a:t>
            </a:r>
            <a:endParaRPr sz="195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spcBef>
                <a:spcPts val="155"/>
              </a:spcBef>
              <a:buChar char="●"/>
              <a:tabLst>
                <a:tab pos="227965" algn="l"/>
              </a:tabLst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design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</a:t>
            </a:r>
            <a:r>
              <a:rPr dirty="0" sz="1950" spc="-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secure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digital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forensic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storage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architecture.</a:t>
            </a:r>
            <a:endParaRPr sz="195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spcBef>
                <a:spcPts val="145"/>
              </a:spcBef>
              <a:buChar char="●"/>
              <a:tabLst>
                <a:tab pos="227965" algn="l"/>
              </a:tabLst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implement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strong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authentication</a:t>
            </a:r>
            <a:r>
              <a:rPr dirty="0" sz="1950" spc="-8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authorized</a:t>
            </a:r>
            <a:r>
              <a:rPr dirty="0" sz="1950" spc="-6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access.</a:t>
            </a:r>
            <a:endParaRPr sz="195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spcBef>
                <a:spcPts val="140"/>
              </a:spcBef>
              <a:buChar char="●"/>
              <a:tabLst>
                <a:tab pos="227965" algn="l"/>
              </a:tabLst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generate</a:t>
            </a:r>
            <a:r>
              <a:rPr dirty="0" sz="1950" spc="-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optimal</a:t>
            </a:r>
            <a:r>
              <a:rPr dirty="0" sz="1950" spc="-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cryptographic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keys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using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EEO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algorithm.</a:t>
            </a:r>
            <a:endParaRPr sz="195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spcBef>
                <a:spcPts val="145"/>
              </a:spcBef>
              <a:buChar char="●"/>
              <a:tabLst>
                <a:tab pos="227965" algn="l"/>
              </a:tabLst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encrypt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forensic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data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using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Multi-Key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Homomorphic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Encryption.</a:t>
            </a:r>
            <a:endParaRPr sz="195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spcBef>
                <a:spcPts val="155"/>
              </a:spcBef>
              <a:buChar char="●"/>
              <a:tabLst>
                <a:tab pos="227965" algn="l"/>
              </a:tabLst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ensure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tamper-</a:t>
            </a:r>
            <a:r>
              <a:rPr dirty="0" sz="1950">
                <a:latin typeface="Times New Roman"/>
                <a:cs typeface="Times New Roman"/>
              </a:rPr>
              <a:t>proof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evidence</a:t>
            </a:r>
            <a:r>
              <a:rPr dirty="0" sz="1950" spc="-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storage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using</a:t>
            </a:r>
            <a:r>
              <a:rPr dirty="0" sz="1950" spc="-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blockchain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technology.</a:t>
            </a:r>
            <a:endParaRPr sz="195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spcBef>
                <a:spcPts val="145"/>
              </a:spcBef>
              <a:buChar char="●"/>
              <a:tabLst>
                <a:tab pos="227965" algn="l"/>
              </a:tabLst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enhance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data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confidentiality,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integrity,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availability.</a:t>
            </a:r>
            <a:endParaRPr sz="195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spcBef>
                <a:spcPts val="145"/>
              </a:spcBef>
              <a:buChar char="●"/>
              <a:tabLst>
                <a:tab pos="227965" algn="l"/>
              </a:tabLst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provide</a:t>
            </a:r>
            <a:r>
              <a:rPr dirty="0" sz="1950" spc="-7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secure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authentication</a:t>
            </a:r>
            <a:r>
              <a:rPr dirty="0" sz="1950" spc="-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forensic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investigators.</a:t>
            </a:r>
            <a:endParaRPr sz="195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spcBef>
                <a:spcPts val="145"/>
              </a:spcBef>
              <a:buChar char="●"/>
              <a:tabLst>
                <a:tab pos="227965" algn="l"/>
              </a:tabLst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generate</a:t>
            </a:r>
            <a:r>
              <a:rPr dirty="0" sz="1950" spc="-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optimal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encryption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keys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using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optimization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algorithm.</a:t>
            </a:r>
            <a:endParaRPr sz="195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spcBef>
                <a:spcPts val="155"/>
              </a:spcBef>
              <a:buChar char="●"/>
              <a:tabLst>
                <a:tab pos="227965" algn="l"/>
              </a:tabLst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-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encrypt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forensic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data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before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cloud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storage.</a:t>
            </a:r>
            <a:endParaRPr sz="1950">
              <a:latin typeface="Times New Roman"/>
              <a:cs typeface="Times New Roman"/>
            </a:endParaRPr>
          </a:p>
          <a:p>
            <a:pPr marL="227965" indent="-215265">
              <a:lnSpc>
                <a:spcPct val="100000"/>
              </a:lnSpc>
              <a:spcBef>
                <a:spcPts val="145"/>
              </a:spcBef>
              <a:buChar char="●"/>
              <a:tabLst>
                <a:tab pos="227965" algn="l"/>
              </a:tabLst>
            </a:pP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-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ensure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tamper-</a:t>
            </a:r>
            <a:r>
              <a:rPr dirty="0" sz="1950">
                <a:latin typeface="Times New Roman"/>
                <a:cs typeface="Times New Roman"/>
              </a:rPr>
              <a:t>proof</a:t>
            </a:r>
            <a:r>
              <a:rPr dirty="0" sz="1950" spc="-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evidence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tracking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using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blockchain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technology.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057655"/>
            <a:ext cx="10058400" cy="360045"/>
          </a:xfrm>
          <a:custGeom>
            <a:avLst/>
            <a:gdLst/>
            <a:ahLst/>
            <a:cxnLst/>
            <a:rect l="l" t="t" r="r" b="b"/>
            <a:pathLst>
              <a:path w="10058400" h="360044">
                <a:moveTo>
                  <a:pt x="10058400" y="359664"/>
                </a:moveTo>
                <a:lnTo>
                  <a:pt x="0" y="359664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359664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0" y="1034303"/>
            <a:ext cx="10058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3180">
              <a:lnSpc>
                <a:spcPct val="100000"/>
              </a:lnSpc>
              <a:spcBef>
                <a:spcPts val="100"/>
              </a:spcBef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Improving</a:t>
            </a:r>
            <a:r>
              <a:rPr dirty="0" sz="1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dirty="0" sz="1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Forensic</a:t>
            </a:r>
            <a:r>
              <a:rPr dirty="0" sz="120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1232916"/>
            <a:ext cx="10058400" cy="673735"/>
            <a:chOff x="0" y="1232916"/>
            <a:chExt cx="10058400" cy="67373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32916"/>
              <a:ext cx="10058400" cy="67360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1286255"/>
              <a:ext cx="10029825" cy="334010"/>
            </a:xfrm>
            <a:custGeom>
              <a:avLst/>
              <a:gdLst/>
              <a:ahLst/>
              <a:cxnLst/>
              <a:rect l="l" t="t" r="r" b="b"/>
              <a:pathLst>
                <a:path w="10029825" h="334009">
                  <a:moveTo>
                    <a:pt x="10029443" y="333756"/>
                  </a:moveTo>
                  <a:lnTo>
                    <a:pt x="0" y="333756"/>
                  </a:lnTo>
                  <a:lnTo>
                    <a:pt x="0" y="0"/>
                  </a:lnTo>
                  <a:lnTo>
                    <a:pt x="10029443" y="0"/>
                  </a:lnTo>
                  <a:lnTo>
                    <a:pt x="10029443" y="333756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952" y="1166841"/>
            <a:ext cx="44678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i="0">
                <a:solidFill>
                  <a:srgbClr val="FFFFFF"/>
                </a:solidFill>
                <a:latin typeface="Times New Roman"/>
                <a:cs typeface="Times New Roman"/>
              </a:rPr>
              <a:t>Literature</a:t>
            </a:r>
            <a:r>
              <a:rPr dirty="0" sz="2800" spc="-95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i="0">
                <a:solidFill>
                  <a:srgbClr val="FFFFFF"/>
                </a:solidFill>
                <a:latin typeface="Times New Roman"/>
                <a:cs typeface="Times New Roman"/>
              </a:rPr>
              <a:t>survey</a:t>
            </a:r>
            <a:r>
              <a:rPr dirty="0" sz="2800" spc="-11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i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2800" spc="-6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i="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20553" y="6508096"/>
            <a:ext cx="3252470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5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5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3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612184" y="1983698"/>
            <a:ext cx="8147050" cy="43916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4475" indent="-231775">
              <a:lnSpc>
                <a:spcPct val="100000"/>
              </a:lnSpc>
              <a:spcBef>
                <a:spcPts val="105"/>
              </a:spcBef>
              <a:buSzPct val="71794"/>
              <a:buFont typeface="Microsoft Sans Serif"/>
              <a:buChar char="●"/>
              <a:tabLst>
                <a:tab pos="244475" algn="l"/>
              </a:tabLst>
            </a:pPr>
            <a:r>
              <a:rPr dirty="0" sz="1950">
                <a:latin typeface="Times New Roman"/>
                <a:cs typeface="Times New Roman"/>
              </a:rPr>
              <a:t>Existing</a:t>
            </a:r>
            <a:r>
              <a:rPr dirty="0" sz="1950" spc="-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research</a:t>
            </a:r>
            <a:r>
              <a:rPr dirty="0" sz="1950" spc="-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focuses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on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cryptography</a:t>
            </a:r>
            <a:r>
              <a:rPr dirty="0" sz="1950" spc="-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blockchain</a:t>
            </a:r>
            <a:r>
              <a:rPr dirty="0" sz="1950" spc="-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forensic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security.</a:t>
            </a:r>
            <a:endParaRPr sz="1950">
              <a:latin typeface="Times New Roman"/>
              <a:cs typeface="Times New Roman"/>
            </a:endParaRPr>
          </a:p>
          <a:p>
            <a:pPr marL="123189" indent="-120650">
              <a:lnSpc>
                <a:spcPct val="100000"/>
              </a:lnSpc>
              <a:spcBef>
                <a:spcPts val="120"/>
              </a:spcBef>
              <a:buSzPct val="71794"/>
              <a:buFont typeface="Microsoft Sans Serif"/>
              <a:buChar char="●"/>
              <a:tabLst>
                <a:tab pos="123189" algn="l"/>
              </a:tabLst>
            </a:pPr>
            <a:r>
              <a:rPr dirty="0" sz="1950">
                <a:latin typeface="Times New Roman"/>
                <a:cs typeface="Times New Roman"/>
              </a:rPr>
              <a:t>Some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systems</a:t>
            </a:r>
            <a:r>
              <a:rPr dirty="0" sz="1950" spc="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provide</a:t>
            </a:r>
            <a:r>
              <a:rPr dirty="0" sz="1950" spc="-8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authentication</a:t>
            </a:r>
            <a:r>
              <a:rPr dirty="0" sz="1950" spc="-8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but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lack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decentralized</a:t>
            </a:r>
            <a:r>
              <a:rPr dirty="0" sz="1950" spc="-6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storage.</a:t>
            </a:r>
            <a:endParaRPr sz="1950">
              <a:latin typeface="Times New Roman"/>
              <a:cs typeface="Times New Roman"/>
            </a:endParaRPr>
          </a:p>
          <a:p>
            <a:pPr marL="123189" indent="-120650">
              <a:lnSpc>
                <a:spcPct val="100000"/>
              </a:lnSpc>
              <a:spcBef>
                <a:spcPts val="120"/>
              </a:spcBef>
              <a:buSzPct val="71794"/>
              <a:buFont typeface="Microsoft Sans Serif"/>
              <a:buChar char="●"/>
              <a:tabLst>
                <a:tab pos="123189" algn="l"/>
              </a:tabLst>
            </a:pPr>
            <a:r>
              <a:rPr dirty="0" sz="1950">
                <a:latin typeface="Times New Roman"/>
                <a:cs typeface="Times New Roman"/>
              </a:rPr>
              <a:t>Other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approaches</a:t>
            </a:r>
            <a:r>
              <a:rPr dirty="0" sz="1950" spc="-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use</a:t>
            </a:r>
            <a:r>
              <a:rPr dirty="0" sz="1950" spc="-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blockchain</a:t>
            </a:r>
            <a:r>
              <a:rPr dirty="0" sz="1950" spc="-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but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suffer</a:t>
            </a:r>
            <a:r>
              <a:rPr dirty="0" sz="1950" spc="-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from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high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computational</a:t>
            </a:r>
            <a:r>
              <a:rPr dirty="0" sz="1950" spc="-7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cost.</a:t>
            </a:r>
            <a:endParaRPr sz="1950">
              <a:latin typeface="Times New Roman"/>
              <a:cs typeface="Times New Roman"/>
            </a:endParaRPr>
          </a:p>
          <a:p>
            <a:pPr marL="123189" indent="-120650">
              <a:lnSpc>
                <a:spcPct val="100000"/>
              </a:lnSpc>
              <a:spcBef>
                <a:spcPts val="130"/>
              </a:spcBef>
              <a:buSzPct val="71794"/>
              <a:buFont typeface="Microsoft Sans Serif"/>
              <a:buChar char="●"/>
              <a:tabLst>
                <a:tab pos="123189" algn="l"/>
              </a:tabLst>
            </a:pPr>
            <a:r>
              <a:rPr dirty="0" sz="1950">
                <a:latin typeface="Times New Roman"/>
                <a:cs typeface="Times New Roman"/>
              </a:rPr>
              <a:t>Many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techniques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do</a:t>
            </a:r>
            <a:r>
              <a:rPr dirty="0" sz="1950" spc="-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not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use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optimized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key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generation.</a:t>
            </a:r>
            <a:endParaRPr sz="1950">
              <a:latin typeface="Times New Roman"/>
              <a:cs typeface="Times New Roman"/>
            </a:endParaRPr>
          </a:p>
          <a:p>
            <a:pPr marL="123189" indent="-120650">
              <a:lnSpc>
                <a:spcPct val="100000"/>
              </a:lnSpc>
              <a:spcBef>
                <a:spcPts val="120"/>
              </a:spcBef>
              <a:buSzPct val="71794"/>
              <a:buFont typeface="Microsoft Sans Serif"/>
              <a:buChar char="●"/>
              <a:tabLst>
                <a:tab pos="123189" algn="l"/>
              </a:tabLst>
            </a:pPr>
            <a:r>
              <a:rPr dirty="0" sz="1950">
                <a:latin typeface="Times New Roman"/>
                <a:cs typeface="Times New Roman"/>
              </a:rPr>
              <a:t>These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limitations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motivated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development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of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DFA-AOKGE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model.</a:t>
            </a:r>
            <a:endParaRPr sz="1950">
              <a:latin typeface="Times New Roman"/>
              <a:cs typeface="Times New Roman"/>
            </a:endParaRPr>
          </a:p>
          <a:p>
            <a:pPr marL="123189" indent="-120650">
              <a:lnSpc>
                <a:spcPct val="100000"/>
              </a:lnSpc>
              <a:spcBef>
                <a:spcPts val="120"/>
              </a:spcBef>
              <a:buSzPct val="71794"/>
              <a:buFont typeface="Microsoft Sans Serif"/>
              <a:buChar char="●"/>
              <a:tabLst>
                <a:tab pos="123189" algn="l"/>
              </a:tabLst>
            </a:pPr>
            <a:r>
              <a:rPr dirty="0" sz="1950">
                <a:latin typeface="Times New Roman"/>
                <a:cs typeface="Times New Roman"/>
              </a:rPr>
              <a:t>Research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 spc="-20">
                <a:latin typeface="Times New Roman"/>
                <a:cs typeface="Times New Roman"/>
              </a:rPr>
              <a:t>gaps: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35"/>
              </a:spcBef>
              <a:buSzPct val="74358"/>
              <a:buFont typeface="Wingdings"/>
              <a:buChar char="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Need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decentralized</a:t>
            </a:r>
            <a:r>
              <a:rPr dirty="0" sz="1950" spc="-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forensic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storage.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SzPct val="74358"/>
              <a:buFont typeface="Wingdings"/>
              <a:buChar char="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Strong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key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generation</a:t>
            </a:r>
            <a:r>
              <a:rPr dirty="0" sz="1950" spc="-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using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optimization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algorithms.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SzPct val="74358"/>
              <a:buFont typeface="Wingdings"/>
              <a:buChar char="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Robust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authentication</a:t>
            </a:r>
            <a:r>
              <a:rPr dirty="0" sz="1950" spc="-7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integrated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with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encryption.</a:t>
            </a:r>
            <a:endParaRPr sz="1950">
              <a:latin typeface="Times New Roman"/>
              <a:cs typeface="Times New Roman"/>
            </a:endParaRPr>
          </a:p>
          <a:p>
            <a:pPr marL="123189" indent="-116205">
              <a:lnSpc>
                <a:spcPct val="100000"/>
              </a:lnSpc>
              <a:spcBef>
                <a:spcPts val="120"/>
              </a:spcBef>
              <a:buSzPct val="69230"/>
              <a:buFont typeface="Microsoft Sans Serif"/>
              <a:buChar char="●"/>
              <a:tabLst>
                <a:tab pos="123189" algn="l"/>
              </a:tabLst>
            </a:pPr>
            <a:r>
              <a:rPr dirty="0" sz="1950">
                <a:latin typeface="Times New Roman"/>
                <a:cs typeface="Times New Roman"/>
              </a:rPr>
              <a:t>DFA-AOKGE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addresses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these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gaps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using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Blockchain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+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EEO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+</a:t>
            </a:r>
            <a:r>
              <a:rPr dirty="0" sz="1950" spc="-20">
                <a:latin typeface="Times New Roman"/>
                <a:cs typeface="Times New Roman"/>
              </a:rPr>
              <a:t> MHE.</a:t>
            </a:r>
            <a:endParaRPr sz="1950">
              <a:latin typeface="Times New Roman"/>
              <a:cs typeface="Times New Roman"/>
            </a:endParaRPr>
          </a:p>
          <a:p>
            <a:pPr marL="123189" indent="-116205">
              <a:lnSpc>
                <a:spcPct val="100000"/>
              </a:lnSpc>
              <a:spcBef>
                <a:spcPts val="130"/>
              </a:spcBef>
              <a:buSzPct val="69230"/>
              <a:buFont typeface="Microsoft Sans Serif"/>
              <a:buChar char="●"/>
              <a:tabLst>
                <a:tab pos="123189" algn="l"/>
              </a:tabLst>
            </a:pPr>
            <a:r>
              <a:rPr dirty="0" sz="1950">
                <a:latin typeface="Times New Roman"/>
                <a:cs typeface="Times New Roman"/>
              </a:rPr>
              <a:t>Limitations</a:t>
            </a:r>
            <a:r>
              <a:rPr dirty="0" sz="1950" spc="-7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identified: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SzPct val="74358"/>
              <a:buFont typeface="Wingdings"/>
              <a:buChar char="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High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computational</a:t>
            </a:r>
            <a:r>
              <a:rPr dirty="0" sz="1950" spc="-6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overhead.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SzPct val="74358"/>
              <a:buFont typeface="Wingdings"/>
              <a:buChar char="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Lack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of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decentralized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architecture.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35"/>
              </a:spcBef>
              <a:buSzPct val="74358"/>
              <a:buFont typeface="Wingdings"/>
              <a:buChar char="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Weak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or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non-optimized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key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generation.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057655"/>
            <a:ext cx="10058400" cy="360045"/>
          </a:xfrm>
          <a:custGeom>
            <a:avLst/>
            <a:gdLst/>
            <a:ahLst/>
            <a:cxnLst/>
            <a:rect l="l" t="t" r="r" b="b"/>
            <a:pathLst>
              <a:path w="10058400" h="360044">
                <a:moveTo>
                  <a:pt x="10058400" y="359664"/>
                </a:moveTo>
                <a:lnTo>
                  <a:pt x="0" y="359664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359664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0" y="1057655"/>
            <a:ext cx="10058400" cy="19367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L="104139">
              <a:lnSpc>
                <a:spcPts val="1355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Improving</a:t>
            </a:r>
            <a:r>
              <a:rPr dirty="0" sz="1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dirty="0" sz="1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Forensic</a:t>
            </a:r>
            <a:r>
              <a:rPr dirty="0" sz="120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1232916"/>
            <a:ext cx="10058400" cy="673735"/>
            <a:chOff x="0" y="1232916"/>
            <a:chExt cx="10058400" cy="67373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32916"/>
              <a:ext cx="10058400" cy="67360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1251204"/>
              <a:ext cx="10058400" cy="589915"/>
            </a:xfrm>
            <a:custGeom>
              <a:avLst/>
              <a:gdLst/>
              <a:ahLst/>
              <a:cxnLst/>
              <a:rect l="l" t="t" r="r" b="b"/>
              <a:pathLst>
                <a:path w="10058400" h="589914">
                  <a:moveTo>
                    <a:pt x="10058400" y="589787"/>
                  </a:moveTo>
                  <a:lnTo>
                    <a:pt x="0" y="589787"/>
                  </a:lnTo>
                  <a:lnTo>
                    <a:pt x="0" y="0"/>
                  </a:lnTo>
                  <a:lnTo>
                    <a:pt x="10058400" y="0"/>
                  </a:lnTo>
                  <a:lnTo>
                    <a:pt x="10058400" y="589787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0" y="1417319"/>
            <a:ext cx="10058400" cy="424180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2570"/>
              </a:lnSpc>
            </a:pP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Proposed</a:t>
            </a:r>
            <a:r>
              <a:rPr dirty="0" sz="3600" spc="2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10" i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20553" y="6508096"/>
            <a:ext cx="3252470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5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5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3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566363" y="2166610"/>
            <a:ext cx="8387080" cy="406527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899160">
              <a:lnSpc>
                <a:spcPct val="101000"/>
              </a:lnSpc>
              <a:spcBef>
                <a:spcPts val="80"/>
              </a:spcBef>
            </a:pPr>
            <a:r>
              <a:rPr dirty="0" sz="1950">
                <a:latin typeface="Times New Roman"/>
                <a:cs typeface="Times New Roman"/>
              </a:rPr>
              <a:t>Users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are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first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registered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authenticated</a:t>
            </a:r>
            <a:r>
              <a:rPr dirty="0" sz="1950" spc="-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using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Secure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Block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Verification Mechanism.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Secret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encryption</a:t>
            </a:r>
            <a:r>
              <a:rPr dirty="0" sz="1950" spc="-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keys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are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generated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using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Enhanced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Equilibrium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Optimizer.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Generation</a:t>
            </a:r>
            <a:r>
              <a:rPr dirty="0" sz="1950" spc="-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of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secret</a:t>
            </a:r>
            <a:r>
              <a:rPr dirty="0" sz="1950" spc="-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keys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using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Enhanced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Equilibrium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Optimizer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(EEO).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Digital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forensic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data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is</a:t>
            </a:r>
            <a:r>
              <a:rPr dirty="0" sz="1950" spc="-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encrypted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using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Multi-</a:t>
            </a:r>
            <a:r>
              <a:rPr dirty="0" sz="1950">
                <a:latin typeface="Times New Roman"/>
                <a:cs typeface="Times New Roman"/>
              </a:rPr>
              <a:t>Key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Homomorphic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Encryption.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Encrypted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evidence</a:t>
            </a:r>
            <a:r>
              <a:rPr dirty="0" sz="1950" spc="-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is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stored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securely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in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cloud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server.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Encryption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of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forensic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data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using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Multi-</a:t>
            </a:r>
            <a:r>
              <a:rPr dirty="0" sz="1950">
                <a:latin typeface="Times New Roman"/>
                <a:cs typeface="Times New Roman"/>
              </a:rPr>
              <a:t>Key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Homomorphic</a:t>
            </a:r>
            <a:r>
              <a:rPr dirty="0" sz="1950" spc="-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Encryption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Blockchain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is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used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record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evidence</a:t>
            </a:r>
            <a:r>
              <a:rPr dirty="0" sz="1950" spc="-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metadata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prevent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tampering.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50" spc="-10">
                <a:latin typeface="Times New Roman"/>
                <a:cs typeface="Times New Roman"/>
              </a:rPr>
              <a:t>Blockchain-</a:t>
            </a:r>
            <a:r>
              <a:rPr dirty="0" sz="1950">
                <a:latin typeface="Times New Roman"/>
                <a:cs typeface="Times New Roman"/>
              </a:rPr>
              <a:t>based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evidence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collection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storage.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Blockchain</a:t>
            </a:r>
            <a:r>
              <a:rPr dirty="0" sz="1950" spc="-7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ledger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maintains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immutability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traceability.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SDN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blockchain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help</a:t>
            </a:r>
            <a:r>
              <a:rPr dirty="0" sz="1950" spc="-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in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secure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evidence</a:t>
            </a:r>
            <a:r>
              <a:rPr dirty="0" sz="1950" spc="-6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collection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and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storage.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Secure</a:t>
            </a:r>
            <a:r>
              <a:rPr dirty="0" sz="1950" spc="-4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storage</a:t>
            </a:r>
            <a:r>
              <a:rPr dirty="0" sz="1950" spc="-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of</a:t>
            </a:r>
            <a:r>
              <a:rPr dirty="0" sz="1950" spc="-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encrypted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data</a:t>
            </a:r>
            <a:r>
              <a:rPr dirty="0" sz="1950" spc="-3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in</a:t>
            </a:r>
            <a:r>
              <a:rPr dirty="0" sz="1950" spc="-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cloud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servers.</a:t>
            </a:r>
            <a:endParaRPr sz="195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50">
                <a:latin typeface="Times New Roman"/>
                <a:cs typeface="Times New Roman"/>
              </a:rPr>
              <a:t>Software</a:t>
            </a:r>
            <a:r>
              <a:rPr dirty="0" sz="1950" spc="-3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Defined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Networking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(SDN)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used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evidence</a:t>
            </a:r>
            <a:r>
              <a:rPr dirty="0" sz="1950" spc="-7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gathering.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057655"/>
            <a:ext cx="10058400" cy="360045"/>
          </a:xfrm>
          <a:custGeom>
            <a:avLst/>
            <a:gdLst/>
            <a:ahLst/>
            <a:cxnLst/>
            <a:rect l="l" t="t" r="r" b="b"/>
            <a:pathLst>
              <a:path w="10058400" h="360044">
                <a:moveTo>
                  <a:pt x="10058400" y="359664"/>
                </a:moveTo>
                <a:lnTo>
                  <a:pt x="0" y="359664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359664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0" y="1057655"/>
            <a:ext cx="10058400" cy="19367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73660">
              <a:lnSpc>
                <a:spcPts val="1355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Improving</a:t>
            </a:r>
            <a:r>
              <a:rPr dirty="0" sz="1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dirty="0" sz="1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Forensic</a:t>
            </a:r>
            <a:r>
              <a:rPr dirty="0" sz="120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1232916"/>
            <a:ext cx="10058400" cy="673735"/>
            <a:chOff x="0" y="1232916"/>
            <a:chExt cx="10058400" cy="67373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32916"/>
              <a:ext cx="10058400" cy="67360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1251204"/>
              <a:ext cx="10058400" cy="589915"/>
            </a:xfrm>
            <a:custGeom>
              <a:avLst/>
              <a:gdLst/>
              <a:ahLst/>
              <a:cxnLst/>
              <a:rect l="l" t="t" r="r" b="b"/>
              <a:pathLst>
                <a:path w="10058400" h="589914">
                  <a:moveTo>
                    <a:pt x="10058400" y="589787"/>
                  </a:moveTo>
                  <a:lnTo>
                    <a:pt x="0" y="589787"/>
                  </a:lnTo>
                  <a:lnTo>
                    <a:pt x="0" y="0"/>
                  </a:lnTo>
                  <a:lnTo>
                    <a:pt x="10058400" y="0"/>
                  </a:lnTo>
                  <a:lnTo>
                    <a:pt x="10058400" y="589787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0" y="1417319"/>
            <a:ext cx="10058400" cy="424180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187325">
              <a:lnSpc>
                <a:spcPts val="2570"/>
              </a:lnSpc>
            </a:pPr>
            <a:r>
              <a:rPr dirty="0" sz="3600" spc="-10" i="0">
                <a:solidFill>
                  <a:srgbClr val="FFFFFF"/>
                </a:solidFill>
                <a:latin typeface="Times New Roman"/>
                <a:cs typeface="Times New Roman"/>
              </a:rPr>
              <a:t>References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20553" y="6508096"/>
            <a:ext cx="3252470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5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5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3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817929" y="2245815"/>
            <a:ext cx="6628765" cy="15748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2115" indent="-399415">
              <a:lnSpc>
                <a:spcPct val="100000"/>
              </a:lnSpc>
              <a:spcBef>
                <a:spcPts val="105"/>
              </a:spcBef>
              <a:buAutoNum type="arabicPlain"/>
              <a:tabLst>
                <a:tab pos="412115" algn="l"/>
              </a:tabLst>
            </a:pPr>
            <a:r>
              <a:rPr dirty="0" sz="1950">
                <a:latin typeface="Times New Roman"/>
                <a:cs typeface="Times New Roman"/>
              </a:rPr>
              <a:t>IEEE</a:t>
            </a:r>
            <a:r>
              <a:rPr dirty="0" sz="1950" spc="-1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Access</a:t>
            </a:r>
            <a:r>
              <a:rPr dirty="0" sz="1950" spc="-6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Journal</a:t>
            </a:r>
            <a:r>
              <a:rPr dirty="0" sz="1950" spc="-8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–</a:t>
            </a:r>
            <a:r>
              <a:rPr dirty="0" sz="1950" spc="-8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Digital</a:t>
            </a:r>
            <a:r>
              <a:rPr dirty="0" sz="1950" spc="-8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Forensic</a:t>
            </a:r>
            <a:r>
              <a:rPr dirty="0" sz="1950" spc="-9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Security.</a:t>
            </a:r>
            <a:endParaRPr sz="1950">
              <a:latin typeface="Times New Roman"/>
              <a:cs typeface="Times New Roman"/>
            </a:endParaRPr>
          </a:p>
          <a:p>
            <a:pPr marL="412115" indent="-399415">
              <a:lnSpc>
                <a:spcPct val="100000"/>
              </a:lnSpc>
              <a:spcBef>
                <a:spcPts val="120"/>
              </a:spcBef>
              <a:buAutoNum type="arabicPlain"/>
              <a:tabLst>
                <a:tab pos="412115" algn="l"/>
              </a:tabLst>
            </a:pPr>
            <a:r>
              <a:rPr dirty="0" sz="1950" spc="-20">
                <a:latin typeface="Times New Roman"/>
                <a:cs typeface="Times New Roman"/>
              </a:rPr>
              <a:t>Blockchain-</a:t>
            </a:r>
            <a:r>
              <a:rPr dirty="0" sz="1950" spc="-10">
                <a:latin typeface="Times New Roman"/>
                <a:cs typeface="Times New Roman"/>
              </a:rPr>
              <a:t>based</a:t>
            </a:r>
            <a:r>
              <a:rPr dirty="0" sz="1950" spc="-7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Cloud</a:t>
            </a:r>
            <a:r>
              <a:rPr dirty="0" sz="1950" spc="-6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Forensics</a:t>
            </a:r>
            <a:r>
              <a:rPr dirty="0" sz="1950" spc="-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Research.</a:t>
            </a:r>
            <a:endParaRPr sz="1950">
              <a:latin typeface="Times New Roman"/>
              <a:cs typeface="Times New Roman"/>
            </a:endParaRPr>
          </a:p>
          <a:p>
            <a:pPr marL="412115" indent="-399415">
              <a:lnSpc>
                <a:spcPct val="100000"/>
              </a:lnSpc>
              <a:spcBef>
                <a:spcPts val="120"/>
              </a:spcBef>
              <a:buAutoNum type="arabicPlain"/>
              <a:tabLst>
                <a:tab pos="412115" algn="l"/>
              </a:tabLst>
            </a:pPr>
            <a:r>
              <a:rPr dirty="0" sz="1950" spc="-10">
                <a:latin typeface="Times New Roman"/>
                <a:cs typeface="Times New Roman"/>
              </a:rPr>
              <a:t>Cryptographic</a:t>
            </a:r>
            <a:r>
              <a:rPr dirty="0" sz="1950" spc="-114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Key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Generation</a:t>
            </a:r>
            <a:r>
              <a:rPr dirty="0" sz="1950" spc="-7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using</a:t>
            </a:r>
            <a:r>
              <a:rPr dirty="0" sz="1950" spc="-7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Optimization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Algorithms.</a:t>
            </a:r>
            <a:endParaRPr sz="1950">
              <a:latin typeface="Times New Roman"/>
              <a:cs typeface="Times New Roman"/>
            </a:endParaRPr>
          </a:p>
          <a:p>
            <a:pPr marL="412115" indent="-399415">
              <a:lnSpc>
                <a:spcPct val="100000"/>
              </a:lnSpc>
              <a:spcBef>
                <a:spcPts val="130"/>
              </a:spcBef>
              <a:buAutoNum type="arabicPlain"/>
              <a:tabLst>
                <a:tab pos="412115" algn="l"/>
              </a:tabLst>
            </a:pPr>
            <a:r>
              <a:rPr dirty="0" sz="1950" spc="-25">
                <a:latin typeface="Times New Roman"/>
                <a:cs typeface="Times New Roman"/>
              </a:rPr>
              <a:t>Multi-</a:t>
            </a:r>
            <a:r>
              <a:rPr dirty="0" sz="1950">
                <a:latin typeface="Times New Roman"/>
                <a:cs typeface="Times New Roman"/>
              </a:rPr>
              <a:t>Key</a:t>
            </a:r>
            <a:r>
              <a:rPr dirty="0" sz="1950" spc="-5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Homomorphic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Encryption</a:t>
            </a:r>
            <a:r>
              <a:rPr dirty="0" sz="1950" spc="-4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Studies.</a:t>
            </a:r>
            <a:endParaRPr sz="1950">
              <a:latin typeface="Times New Roman"/>
              <a:cs typeface="Times New Roman"/>
            </a:endParaRPr>
          </a:p>
          <a:p>
            <a:pPr marL="412115" indent="-399415">
              <a:lnSpc>
                <a:spcPct val="100000"/>
              </a:lnSpc>
              <a:spcBef>
                <a:spcPts val="120"/>
              </a:spcBef>
              <a:buAutoNum type="arabicPlain"/>
              <a:tabLst>
                <a:tab pos="412115" algn="l"/>
              </a:tabLst>
            </a:pPr>
            <a:r>
              <a:rPr dirty="0" sz="1950">
                <a:latin typeface="Times New Roman"/>
                <a:cs typeface="Times New Roman"/>
              </a:rPr>
              <a:t>Secure</a:t>
            </a:r>
            <a:r>
              <a:rPr dirty="0" sz="1950" spc="-8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Authentication</a:t>
            </a:r>
            <a:r>
              <a:rPr dirty="0" sz="1950" spc="-10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Models</a:t>
            </a:r>
            <a:r>
              <a:rPr dirty="0" sz="1950" spc="-9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for</a:t>
            </a:r>
            <a:r>
              <a:rPr dirty="0" sz="1950" spc="-5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Cloud</a:t>
            </a:r>
            <a:r>
              <a:rPr dirty="0" sz="1950" spc="-8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Forensics</a:t>
            </a:r>
            <a:r>
              <a:rPr dirty="0" sz="1950" spc="-85">
                <a:latin typeface="Times New Roman"/>
                <a:cs typeface="Times New Roman"/>
              </a:rPr>
              <a:t> </a:t>
            </a:r>
            <a:r>
              <a:rPr dirty="0" sz="1950" spc="-50">
                <a:latin typeface="Times New Roman"/>
                <a:cs typeface="Times New Roman"/>
              </a:rPr>
              <a:t>.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1985772"/>
            <a:ext cx="8342375" cy="3724656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0" y="1057655"/>
            <a:ext cx="10058400" cy="360045"/>
          </a:xfrm>
          <a:custGeom>
            <a:avLst/>
            <a:gdLst/>
            <a:ahLst/>
            <a:cxnLst/>
            <a:rect l="l" t="t" r="r" b="b"/>
            <a:pathLst>
              <a:path w="10058400" h="360044">
                <a:moveTo>
                  <a:pt x="10058400" y="359664"/>
                </a:moveTo>
                <a:lnTo>
                  <a:pt x="0" y="359664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359664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0" y="1057655"/>
            <a:ext cx="10058400" cy="193675"/>
          </a:xfrm>
          <a:prstGeom prst="rect">
            <a:avLst/>
          </a:prstGeom>
          <a:solidFill>
            <a:srgbClr val="006666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256540">
              <a:lnSpc>
                <a:spcPts val="1355"/>
              </a:lnSpc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Improving</a:t>
            </a:r>
            <a:r>
              <a:rPr dirty="0" sz="1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dirty="0" sz="1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Forensic</a:t>
            </a:r>
            <a:r>
              <a:rPr dirty="0" sz="120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1232916"/>
            <a:ext cx="10058400" cy="673735"/>
            <a:chOff x="0" y="1232916"/>
            <a:chExt cx="10058400" cy="67373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32916"/>
              <a:ext cx="10058400" cy="67360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0" y="1251204"/>
              <a:ext cx="10058400" cy="589915"/>
            </a:xfrm>
            <a:custGeom>
              <a:avLst/>
              <a:gdLst/>
              <a:ahLst/>
              <a:cxnLst/>
              <a:rect l="l" t="t" r="r" b="b"/>
              <a:pathLst>
                <a:path w="10058400" h="589914">
                  <a:moveTo>
                    <a:pt x="10058400" y="589787"/>
                  </a:moveTo>
                  <a:lnTo>
                    <a:pt x="0" y="589787"/>
                  </a:lnTo>
                  <a:lnTo>
                    <a:pt x="0" y="0"/>
                  </a:lnTo>
                  <a:lnTo>
                    <a:pt x="10058400" y="0"/>
                  </a:lnTo>
                  <a:lnTo>
                    <a:pt x="10058400" y="589787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0" y="1417319"/>
            <a:ext cx="10058400" cy="424180"/>
          </a:xfrm>
          <a:prstGeom prst="rect"/>
          <a:solidFill>
            <a:srgbClr val="FF6600"/>
          </a:solidFill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2570"/>
              </a:lnSpc>
            </a:pP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Git</a:t>
            </a:r>
            <a:r>
              <a:rPr dirty="0" sz="3600" spc="-11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Hub</a:t>
            </a:r>
            <a:r>
              <a:rPr dirty="0" sz="3600" spc="70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Dashboards</a:t>
            </a:r>
            <a:r>
              <a:rPr dirty="0" sz="3600" spc="-105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3600" spc="25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i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dirty="0" sz="3600" spc="35" i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10" i="0">
                <a:solidFill>
                  <a:srgbClr val="FFFFFF"/>
                </a:solidFill>
                <a:latin typeface="Times New Roman"/>
                <a:cs typeface="Times New Roman"/>
              </a:rPr>
              <a:t>student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35251" y="5885163"/>
            <a:ext cx="567753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latin typeface="Microsoft Sans Serif"/>
                <a:cs typeface="Microsoft Sans Serif"/>
              </a:rPr>
              <a:t>Github</a:t>
            </a:r>
            <a:r>
              <a:rPr dirty="0" sz="1450" spc="1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Link: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u="sng" sz="1450" spc="-1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Microsoft Sans Serif"/>
                <a:cs typeface="Microsoft Sans Serif"/>
              </a:rPr>
              <a:t>https://github.com/SAROSHINI/CSE-</a:t>
            </a:r>
            <a:r>
              <a:rPr dirty="0" u="sng" sz="1450" spc="-2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Microsoft Sans Serif"/>
                <a:cs typeface="Microsoft Sans Serif"/>
              </a:rPr>
              <a:t>2022-26-</a:t>
            </a:r>
            <a:r>
              <a:rPr dirty="0" u="sng" sz="1450" spc="-1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Microsoft Sans Serif"/>
                <a:cs typeface="Microsoft Sans Serif"/>
              </a:rPr>
              <a:t>Batch-</a:t>
            </a:r>
            <a:r>
              <a:rPr dirty="0" u="sng" sz="1450" spc="-25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Microsoft Sans Serif"/>
                <a:cs typeface="Microsoft Sans Serif"/>
              </a:rPr>
              <a:t>B19</a:t>
            </a:r>
            <a:endParaRPr sz="1450">
              <a:latin typeface="Microsoft Sans Serif"/>
              <a:cs typeface="Microsoft Sans Serif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700" y="1985772"/>
            <a:ext cx="8763000" cy="372465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720553" y="6508096"/>
            <a:ext cx="3252470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5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5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3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69645" y="1035791"/>
            <a:ext cx="23094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Improving</a:t>
            </a:r>
            <a:r>
              <a:rPr dirty="0" sz="1200" spc="-5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dirty="0" sz="1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b="1" i="1">
                <a:solidFill>
                  <a:srgbClr val="FFFFFF"/>
                </a:solidFill>
                <a:latin typeface="Times New Roman"/>
                <a:cs typeface="Times New Roman"/>
              </a:rPr>
              <a:t>Forensic</a:t>
            </a:r>
            <a:r>
              <a:rPr dirty="0" sz="120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720553" y="6508096"/>
            <a:ext cx="3252470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z="1300" spc="-6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dirty="0" cap="small" sz="13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75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dirty="0" cap="small" sz="13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5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cap="small" sz="1300" spc="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cap="small" sz="1300" spc="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cap="small" sz="1300" spc="-13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pc="-40"/>
              <a:t>B-</a:t>
            </a:r>
            <a:r>
              <a:rPr dirty="0" spc="-25"/>
              <a:t>19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cap="small" spc="-45"/>
              <a:t>Dept.</a:t>
            </a:r>
            <a:r>
              <a:rPr dirty="0" cap="small" spc="-125"/>
              <a:t> </a:t>
            </a:r>
            <a:r>
              <a:rPr dirty="0" cap="small"/>
              <a:t>of</a:t>
            </a:r>
            <a:r>
              <a:rPr dirty="0" cap="small" spc="65"/>
              <a:t> </a:t>
            </a:r>
            <a:r>
              <a:rPr dirty="0" cap="small" spc="-70"/>
              <a:t>Computer</a:t>
            </a:r>
            <a:r>
              <a:rPr dirty="0" cap="small" spc="10"/>
              <a:t> </a:t>
            </a:r>
            <a:r>
              <a:rPr dirty="0" cap="small" spc="-35"/>
              <a:t>Science</a:t>
            </a:r>
            <a:r>
              <a:rPr dirty="0" cap="small" spc="5"/>
              <a:t> </a:t>
            </a:r>
            <a:r>
              <a:rPr dirty="0" cap="small" spc="-20"/>
              <a:t>and</a:t>
            </a:r>
            <a:r>
              <a:rPr dirty="0" cap="small" spc="5"/>
              <a:t> </a:t>
            </a:r>
            <a:r>
              <a:rPr dirty="0" cap="small" spc="-114"/>
              <a:t>Engineering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1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Any</a:t>
            </a:r>
            <a:r>
              <a:rPr dirty="0" spc="-170"/>
              <a:t> </a:t>
            </a:r>
            <a:r>
              <a:rPr dirty="0" spc="-10"/>
              <a:t>Queries?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project</dc:title>
  <dcterms:created xsi:type="dcterms:W3CDTF">2025-12-18T05:56:26Z</dcterms:created>
  <dcterms:modified xsi:type="dcterms:W3CDTF">2025-12-18T05:56:26Z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2025-12-17T00:00:00Z</vt:filetime>
  </property>
  <property fmtid="{D5CDD505-2E9C-101B-9397-08002B2CF9AE}" pid="3" name="LastSaved">
    <vt:filetime>2025-12-18T00:00:00Z</vt:filetime>
  </property>
  <property fmtid="{D5CDD505-2E9C-101B-9397-08002B2CF9AE}" pid="4" name="Producer">
    <vt:lpwstr>Microsoft: Print To PDF</vt:lpwstr>
  </property>
</Properties>
</file>