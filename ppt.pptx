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9620" y="6537960"/>
            <a:ext cx="4537075" cy="178435"/>
          </a:xfrm>
          <a:custGeom>
            <a:avLst/>
            <a:gdLst/>
            <a:ahLst/>
            <a:cxnLst/>
            <a:rect l="l" t="t" r="r" b="b"/>
            <a:pathLst>
              <a:path w="4537075" h="178434">
                <a:moveTo>
                  <a:pt x="4536947" y="178307"/>
                </a:moveTo>
                <a:lnTo>
                  <a:pt x="0" y="178307"/>
                </a:lnTo>
                <a:lnTo>
                  <a:pt x="0" y="0"/>
                </a:lnTo>
                <a:lnTo>
                  <a:pt x="4536947" y="0"/>
                </a:lnTo>
                <a:lnTo>
                  <a:pt x="4536947" y="17830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06567" y="6537960"/>
            <a:ext cx="4282440" cy="178435"/>
          </a:xfrm>
          <a:custGeom>
            <a:avLst/>
            <a:gdLst/>
            <a:ahLst/>
            <a:cxnLst/>
            <a:rect l="l" t="t" r="r" b="b"/>
            <a:pathLst>
              <a:path w="4282440" h="178434">
                <a:moveTo>
                  <a:pt x="4282439" y="178307"/>
                </a:moveTo>
                <a:lnTo>
                  <a:pt x="0" y="178307"/>
                </a:lnTo>
                <a:lnTo>
                  <a:pt x="0" y="0"/>
                </a:lnTo>
                <a:lnTo>
                  <a:pt x="4282439" y="0"/>
                </a:lnTo>
                <a:lnTo>
                  <a:pt x="4282439" y="178307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589007" y="6537960"/>
            <a:ext cx="469900" cy="178435"/>
          </a:xfrm>
          <a:custGeom>
            <a:avLst/>
            <a:gdLst/>
            <a:ahLst/>
            <a:cxnLst/>
            <a:rect l="l" t="t" r="r" b="b"/>
            <a:pathLst>
              <a:path w="469900" h="178434">
                <a:moveTo>
                  <a:pt x="469392" y="178307"/>
                </a:moveTo>
                <a:lnTo>
                  <a:pt x="0" y="178307"/>
                </a:lnTo>
                <a:lnTo>
                  <a:pt x="0" y="0"/>
                </a:lnTo>
                <a:lnTo>
                  <a:pt x="469392" y="0"/>
                </a:lnTo>
                <a:lnTo>
                  <a:pt x="469392" y="178307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2996" y="5972555"/>
            <a:ext cx="565403" cy="56235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37960"/>
            <a:ext cx="769620" cy="178435"/>
          </a:xfrm>
          <a:custGeom>
            <a:avLst/>
            <a:gdLst/>
            <a:ahLst/>
            <a:cxnLst/>
            <a:rect l="l" t="t" r="r" b="b"/>
            <a:pathLst>
              <a:path w="769620" h="178434">
                <a:moveTo>
                  <a:pt x="769620" y="178307"/>
                </a:moveTo>
                <a:lnTo>
                  <a:pt x="0" y="178307"/>
                </a:lnTo>
                <a:lnTo>
                  <a:pt x="0" y="0"/>
                </a:lnTo>
                <a:lnTo>
                  <a:pt x="769620" y="0"/>
                </a:lnTo>
                <a:lnTo>
                  <a:pt x="769620" y="178307"/>
                </a:lnTo>
                <a:close/>
              </a:path>
            </a:pathLst>
          </a:custGeom>
          <a:solidFill>
            <a:srgbClr val="C459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1057655"/>
            <a:ext cx="10058400" cy="192405"/>
          </a:xfrm>
          <a:custGeom>
            <a:avLst/>
            <a:gdLst/>
            <a:ahLst/>
            <a:cxnLst/>
            <a:rect l="l" t="t" r="r" b="b"/>
            <a:pathLst>
              <a:path w="10058400" h="192405">
                <a:moveTo>
                  <a:pt x="10058400" y="192023"/>
                </a:moveTo>
                <a:lnTo>
                  <a:pt x="0" y="192023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023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9620" y="6537960"/>
            <a:ext cx="4537075" cy="178435"/>
          </a:xfrm>
          <a:custGeom>
            <a:avLst/>
            <a:gdLst/>
            <a:ahLst/>
            <a:cxnLst/>
            <a:rect l="l" t="t" r="r" b="b"/>
            <a:pathLst>
              <a:path w="4537075" h="178434">
                <a:moveTo>
                  <a:pt x="4536947" y="178307"/>
                </a:moveTo>
                <a:lnTo>
                  <a:pt x="0" y="178307"/>
                </a:lnTo>
                <a:lnTo>
                  <a:pt x="0" y="0"/>
                </a:lnTo>
                <a:lnTo>
                  <a:pt x="4536947" y="0"/>
                </a:lnTo>
                <a:lnTo>
                  <a:pt x="4536947" y="17830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06567" y="6537960"/>
            <a:ext cx="4282440" cy="178435"/>
          </a:xfrm>
          <a:custGeom>
            <a:avLst/>
            <a:gdLst/>
            <a:ahLst/>
            <a:cxnLst/>
            <a:rect l="l" t="t" r="r" b="b"/>
            <a:pathLst>
              <a:path w="4282440" h="178434">
                <a:moveTo>
                  <a:pt x="4282439" y="178307"/>
                </a:moveTo>
                <a:lnTo>
                  <a:pt x="0" y="178307"/>
                </a:lnTo>
                <a:lnTo>
                  <a:pt x="0" y="0"/>
                </a:lnTo>
                <a:lnTo>
                  <a:pt x="4282439" y="0"/>
                </a:lnTo>
                <a:lnTo>
                  <a:pt x="4282439" y="178307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589007" y="6537960"/>
            <a:ext cx="469900" cy="178435"/>
          </a:xfrm>
          <a:custGeom>
            <a:avLst/>
            <a:gdLst/>
            <a:ahLst/>
            <a:cxnLst/>
            <a:rect l="l" t="t" r="r" b="b"/>
            <a:pathLst>
              <a:path w="469900" h="178434">
                <a:moveTo>
                  <a:pt x="469392" y="178307"/>
                </a:moveTo>
                <a:lnTo>
                  <a:pt x="0" y="178307"/>
                </a:lnTo>
                <a:lnTo>
                  <a:pt x="0" y="0"/>
                </a:lnTo>
                <a:lnTo>
                  <a:pt x="469392" y="0"/>
                </a:lnTo>
                <a:lnTo>
                  <a:pt x="469392" y="178307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2996" y="5972555"/>
            <a:ext cx="565403" cy="56235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37960"/>
            <a:ext cx="769620" cy="178435"/>
          </a:xfrm>
          <a:custGeom>
            <a:avLst/>
            <a:gdLst/>
            <a:ahLst/>
            <a:cxnLst/>
            <a:rect l="l" t="t" r="r" b="b"/>
            <a:pathLst>
              <a:path w="769620" h="178434">
                <a:moveTo>
                  <a:pt x="769620" y="178307"/>
                </a:moveTo>
                <a:lnTo>
                  <a:pt x="0" y="178307"/>
                </a:lnTo>
                <a:lnTo>
                  <a:pt x="0" y="0"/>
                </a:lnTo>
                <a:lnTo>
                  <a:pt x="769620" y="0"/>
                </a:lnTo>
                <a:lnTo>
                  <a:pt x="769620" y="178307"/>
                </a:lnTo>
                <a:close/>
              </a:path>
            </a:pathLst>
          </a:custGeom>
          <a:solidFill>
            <a:srgbClr val="C459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0797" y="2960621"/>
            <a:ext cx="5517515" cy="123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7924" y="2268723"/>
            <a:ext cx="8299450" cy="2138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22934" y="6516099"/>
            <a:ext cx="35179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268994" y="6516099"/>
            <a:ext cx="305181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703274" y="6516099"/>
            <a:ext cx="21526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41604" y="6531864"/>
            <a:ext cx="9417050" cy="184785"/>
            <a:chOff x="641604" y="6531864"/>
            <a:chExt cx="9417050" cy="184785"/>
          </a:xfrm>
        </p:grpSpPr>
        <p:sp>
          <p:nvSpPr>
            <p:cNvPr id="3" name="object 3" descr=""/>
            <p:cNvSpPr/>
            <p:nvPr/>
          </p:nvSpPr>
          <p:spPr>
            <a:xfrm>
              <a:off x="641604" y="6531864"/>
              <a:ext cx="4770120" cy="181610"/>
            </a:xfrm>
            <a:custGeom>
              <a:avLst/>
              <a:gdLst/>
              <a:ahLst/>
              <a:cxnLst/>
              <a:rect l="l" t="t" r="r" b="b"/>
              <a:pathLst>
                <a:path w="4770120" h="181609">
                  <a:moveTo>
                    <a:pt x="4770119" y="181355"/>
                  </a:moveTo>
                  <a:lnTo>
                    <a:pt x="0" y="181355"/>
                  </a:lnTo>
                  <a:lnTo>
                    <a:pt x="0" y="0"/>
                  </a:lnTo>
                  <a:lnTo>
                    <a:pt x="4770119" y="0"/>
                  </a:lnTo>
                  <a:lnTo>
                    <a:pt x="4770119" y="181355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411723" y="6531864"/>
              <a:ext cx="4285615" cy="181610"/>
            </a:xfrm>
            <a:custGeom>
              <a:avLst/>
              <a:gdLst/>
              <a:ahLst/>
              <a:cxnLst/>
              <a:rect l="l" t="t" r="r" b="b"/>
              <a:pathLst>
                <a:path w="4285615" h="181609">
                  <a:moveTo>
                    <a:pt x="4285488" y="181355"/>
                  </a:moveTo>
                  <a:lnTo>
                    <a:pt x="0" y="181355"/>
                  </a:lnTo>
                  <a:lnTo>
                    <a:pt x="0" y="0"/>
                  </a:lnTo>
                  <a:lnTo>
                    <a:pt x="4285488" y="0"/>
                  </a:lnTo>
                  <a:lnTo>
                    <a:pt x="4285488" y="181355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698735" y="6533387"/>
              <a:ext cx="360045" cy="182880"/>
            </a:xfrm>
            <a:custGeom>
              <a:avLst/>
              <a:gdLst/>
              <a:ahLst/>
              <a:cxnLst/>
              <a:rect l="l" t="t" r="r" b="b"/>
              <a:pathLst>
                <a:path w="360045" h="182879">
                  <a:moveTo>
                    <a:pt x="359664" y="182880"/>
                  </a:moveTo>
                  <a:lnTo>
                    <a:pt x="0" y="182880"/>
                  </a:lnTo>
                  <a:lnTo>
                    <a:pt x="0" y="0"/>
                  </a:lnTo>
                  <a:lnTo>
                    <a:pt x="359664" y="0"/>
                  </a:lnTo>
                  <a:lnTo>
                    <a:pt x="359664" y="18288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0" y="1057655"/>
            <a:ext cx="10058400" cy="192405"/>
          </a:xfrm>
          <a:custGeom>
            <a:avLst/>
            <a:gdLst/>
            <a:ahLst/>
            <a:cxnLst/>
            <a:rect l="l" t="t" r="r" b="b"/>
            <a:pathLst>
              <a:path w="10058400" h="192405">
                <a:moveTo>
                  <a:pt x="10058400" y="192023"/>
                </a:moveTo>
                <a:lnTo>
                  <a:pt x="0" y="192023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023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6531864"/>
            <a:ext cx="641985" cy="182880"/>
          </a:xfrm>
          <a:custGeom>
            <a:avLst/>
            <a:gdLst/>
            <a:ahLst/>
            <a:cxnLst/>
            <a:rect l="l" t="t" r="r" b="b"/>
            <a:pathLst>
              <a:path w="641985" h="182879">
                <a:moveTo>
                  <a:pt x="641604" y="182880"/>
                </a:moveTo>
                <a:lnTo>
                  <a:pt x="0" y="182880"/>
                </a:lnTo>
                <a:lnTo>
                  <a:pt x="0" y="0"/>
                </a:lnTo>
                <a:lnTo>
                  <a:pt x="641604" y="0"/>
                </a:lnTo>
                <a:lnTo>
                  <a:pt x="641604" y="182880"/>
                </a:lnTo>
                <a:close/>
              </a:path>
            </a:pathLst>
          </a:custGeom>
          <a:solidFill>
            <a:srgbClr val="C459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466133" y="2482086"/>
            <a:ext cx="1096010" cy="356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730"/>
              </a:lnSpc>
              <a:spcBef>
                <a:spcPts val="90"/>
              </a:spcBef>
            </a:pPr>
            <a:r>
              <a:rPr dirty="0" sz="1450" spc="-10">
                <a:latin typeface="Times New Roman"/>
                <a:cs typeface="Times New Roman"/>
              </a:rPr>
              <a:t>S.A.ROSHINI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ts val="890"/>
              </a:lnSpc>
            </a:pPr>
            <a:r>
              <a:rPr dirty="0" sz="750">
                <a:latin typeface="Times New Roman"/>
                <a:cs typeface="Times New Roman"/>
              </a:rPr>
              <a:t>Roll</a:t>
            </a:r>
            <a:r>
              <a:rPr dirty="0" sz="750" spc="-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No.</a:t>
            </a:r>
            <a:r>
              <a:rPr dirty="0" sz="750" spc="-30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224G1A0586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76357" y="3045899"/>
            <a:ext cx="2908935" cy="61087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414"/>
              </a:spcBef>
            </a:pPr>
            <a:r>
              <a:rPr dirty="0" sz="1150" i="1">
                <a:latin typeface="Times New Roman"/>
                <a:cs typeface="Times New Roman"/>
              </a:rPr>
              <a:t>Under</a:t>
            </a:r>
            <a:r>
              <a:rPr dirty="0" sz="1150" spc="-45" i="1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the</a:t>
            </a:r>
            <a:r>
              <a:rPr dirty="0" sz="1150" spc="-35" i="1">
                <a:latin typeface="Times New Roman"/>
                <a:cs typeface="Times New Roman"/>
              </a:rPr>
              <a:t> </a:t>
            </a:r>
            <a:r>
              <a:rPr dirty="0" sz="1150" spc="-10" i="1">
                <a:latin typeface="Times New Roman"/>
                <a:cs typeface="Times New Roman"/>
              </a:rPr>
              <a:t>guidance</a:t>
            </a:r>
            <a:r>
              <a:rPr dirty="0" sz="1150" spc="-35" i="1">
                <a:latin typeface="Times New Roman"/>
                <a:cs typeface="Times New Roman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of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1950">
                <a:latin typeface="Microsoft Sans Serif"/>
                <a:cs typeface="Microsoft Sans Serif"/>
              </a:rPr>
              <a:t>Mrs.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M.Sowmya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, </a:t>
            </a:r>
            <a:r>
              <a:rPr dirty="0" sz="1150" spc="-10">
                <a:latin typeface="Times New Roman"/>
                <a:cs typeface="Times New Roman"/>
              </a:rPr>
              <a:t>M.Tech.,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Ph.D.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87099" y="5219104"/>
            <a:ext cx="6483985" cy="12433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4445">
              <a:lnSpc>
                <a:spcPts val="1950"/>
              </a:lnSpc>
              <a:spcBef>
                <a:spcPts val="110"/>
              </a:spcBef>
            </a:pPr>
            <a:r>
              <a:rPr dirty="0" sz="1800">
                <a:latin typeface="Times New Roman"/>
                <a:cs typeface="Times New Roman"/>
              </a:rPr>
              <a:t>Department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Science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(AI&amp;ML)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3085"/>
              </a:lnSpc>
            </a:pP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dirty="0" sz="28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8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2800">
              <a:latin typeface="Times New Roman"/>
              <a:cs typeface="Times New Roman"/>
            </a:endParaRPr>
          </a:p>
          <a:p>
            <a:pPr algn="ctr" marL="3175">
              <a:lnSpc>
                <a:spcPts val="1660"/>
              </a:lnSpc>
            </a:pPr>
            <a:r>
              <a:rPr dirty="0" sz="1450" spc="-10" b="1">
                <a:latin typeface="Times New Roman"/>
                <a:cs typeface="Times New Roman"/>
              </a:rPr>
              <a:t>Autonomous</a:t>
            </a:r>
            <a:endParaRPr sz="1450">
              <a:latin typeface="Times New Roman"/>
              <a:cs typeface="Times New Roman"/>
            </a:endParaRPr>
          </a:p>
          <a:p>
            <a:pPr algn="ctr" marL="6350">
              <a:lnSpc>
                <a:spcPts val="1185"/>
              </a:lnSpc>
            </a:pPr>
            <a:r>
              <a:rPr dirty="0" sz="1000" spc="-10" b="1">
                <a:latin typeface="Times New Roman"/>
                <a:cs typeface="Times New Roman"/>
              </a:rPr>
              <a:t>Rotarypuram</a:t>
            </a:r>
            <a:r>
              <a:rPr dirty="0" sz="1000" spc="-6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Village,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B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K</a:t>
            </a:r>
            <a:r>
              <a:rPr dirty="0" sz="1000" spc="-10" b="1">
                <a:latin typeface="Times New Roman"/>
                <a:cs typeface="Times New Roman"/>
              </a:rPr>
              <a:t> Samudram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Mandal,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Ananthapuramu</a:t>
            </a:r>
            <a:r>
              <a:rPr dirty="0" sz="1000" spc="-3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–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515701.</a:t>
            </a:r>
            <a:endParaRPr sz="1000">
              <a:latin typeface="Times New Roman"/>
              <a:cs typeface="Times New Roman"/>
            </a:endParaRPr>
          </a:p>
          <a:p>
            <a:pPr algn="ctr" marL="6350">
              <a:lnSpc>
                <a:spcPct val="100000"/>
              </a:lnSpc>
              <a:spcBef>
                <a:spcPts val="430"/>
              </a:spcBef>
            </a:pPr>
            <a:r>
              <a:rPr dirty="0" sz="1050" b="1">
                <a:solidFill>
                  <a:srgbClr val="1D4D77"/>
                </a:solidFill>
                <a:latin typeface="Times New Roman"/>
                <a:cs typeface="Times New Roman"/>
              </a:rPr>
              <a:t>2025-</a:t>
            </a:r>
            <a:r>
              <a:rPr dirty="0" sz="1050" spc="-20" b="1">
                <a:solidFill>
                  <a:srgbClr val="1D4D77"/>
                </a:solidFill>
                <a:latin typeface="Times New Roman"/>
                <a:cs typeface="Times New Roman"/>
              </a:rPr>
              <a:t>2026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137367" y="2472952"/>
            <a:ext cx="1590675" cy="390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975"/>
              </a:lnSpc>
              <a:spcBef>
                <a:spcPts val="105"/>
              </a:spcBef>
            </a:pPr>
            <a:r>
              <a:rPr dirty="0" sz="1650" spc="-10">
                <a:latin typeface="Times New Roman"/>
                <a:cs typeface="Times New Roman"/>
              </a:rPr>
              <a:t>A.GOVARDHAN</a:t>
            </a:r>
            <a:endParaRPr sz="1650">
              <a:latin typeface="Times New Roman"/>
              <a:cs typeface="Times New Roman"/>
            </a:endParaRPr>
          </a:p>
          <a:p>
            <a:pPr algn="ctr" marL="3810">
              <a:lnSpc>
                <a:spcPts val="894"/>
              </a:lnSpc>
            </a:pPr>
            <a:r>
              <a:rPr dirty="0" sz="750">
                <a:latin typeface="Times New Roman"/>
                <a:cs typeface="Times New Roman"/>
              </a:rPr>
              <a:t>Roll</a:t>
            </a:r>
            <a:r>
              <a:rPr dirty="0" sz="750" spc="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No.</a:t>
            </a:r>
            <a:r>
              <a:rPr dirty="0" sz="750" spc="-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224G1A05C7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59259" y="2482119"/>
            <a:ext cx="1816100" cy="4711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Times New Roman"/>
                <a:cs typeface="Times New Roman"/>
              </a:rPr>
              <a:t>B.THANU</a:t>
            </a:r>
            <a:r>
              <a:rPr dirty="0" sz="1950" spc="90"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SREE</a:t>
            </a:r>
            <a:endParaRPr sz="195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Times New Roman"/>
                <a:cs typeface="Times New Roman"/>
              </a:rPr>
              <a:t>Roll No.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224G1A0592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53657" y="1331975"/>
            <a:ext cx="8728710" cy="774065"/>
            <a:chOff x="653657" y="1331975"/>
            <a:chExt cx="8728710" cy="774065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657" y="1331975"/>
              <a:ext cx="8728225" cy="77349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73608" y="1351788"/>
              <a:ext cx="8685530" cy="707390"/>
            </a:xfrm>
            <a:custGeom>
              <a:avLst/>
              <a:gdLst/>
              <a:ahLst/>
              <a:cxnLst/>
              <a:rect l="l" t="t" r="r" b="b"/>
              <a:pathLst>
                <a:path w="8685530" h="707389">
                  <a:moveTo>
                    <a:pt x="8566403" y="707135"/>
                  </a:moveTo>
                  <a:lnTo>
                    <a:pt x="117348" y="707135"/>
                  </a:lnTo>
                  <a:lnTo>
                    <a:pt x="79248" y="701039"/>
                  </a:lnTo>
                  <a:lnTo>
                    <a:pt x="47243" y="684275"/>
                  </a:lnTo>
                  <a:lnTo>
                    <a:pt x="21335" y="659891"/>
                  </a:lnTo>
                  <a:lnTo>
                    <a:pt x="4571" y="626363"/>
                  </a:lnTo>
                  <a:lnTo>
                    <a:pt x="0" y="589787"/>
                  </a:lnTo>
                  <a:lnTo>
                    <a:pt x="0" y="117348"/>
                  </a:lnTo>
                  <a:lnTo>
                    <a:pt x="21335" y="48767"/>
                  </a:lnTo>
                  <a:lnTo>
                    <a:pt x="79248" y="6096"/>
                  </a:lnTo>
                  <a:lnTo>
                    <a:pt x="117348" y="0"/>
                  </a:lnTo>
                  <a:lnTo>
                    <a:pt x="8566403" y="0"/>
                  </a:lnTo>
                  <a:lnTo>
                    <a:pt x="8612123" y="9143"/>
                  </a:lnTo>
                  <a:lnTo>
                    <a:pt x="8650223" y="35052"/>
                  </a:lnTo>
                  <a:lnTo>
                    <a:pt x="8676131" y="73152"/>
                  </a:lnTo>
                  <a:lnTo>
                    <a:pt x="8685275" y="117348"/>
                  </a:lnTo>
                  <a:lnTo>
                    <a:pt x="8685275" y="589787"/>
                  </a:lnTo>
                  <a:lnTo>
                    <a:pt x="8662415" y="659891"/>
                  </a:lnTo>
                  <a:lnTo>
                    <a:pt x="8604503" y="701039"/>
                  </a:lnTo>
                  <a:lnTo>
                    <a:pt x="8566403" y="707135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71915" y="1467084"/>
            <a:ext cx="605409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2650" spc="-7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2650" spc="-8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2650" spc="-8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2650" spc="-8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50" spc="-7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spc="-10" i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38743" y="2105640"/>
            <a:ext cx="18034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5" i="1">
                <a:latin typeface="Times New Roman"/>
                <a:cs typeface="Times New Roman"/>
              </a:rPr>
              <a:t>by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9788" y="3927347"/>
            <a:ext cx="1260347" cy="1389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3" y="1057655"/>
            <a:ext cx="10057130" cy="19240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152775">
              <a:lnSpc>
                <a:spcPts val="1330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-3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28344"/>
            <a:ext cx="10058400" cy="6736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" y="1249680"/>
            <a:ext cx="10057130" cy="58674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3985"/>
              </a:lnSpc>
            </a:pP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Contents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67643" y="1859599"/>
            <a:ext cx="7780020" cy="385381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85"/>
              </a:spcBef>
              <a:buChar char="•"/>
              <a:tabLst>
                <a:tab pos="350520" algn="l"/>
              </a:tabLst>
            </a:pPr>
            <a:r>
              <a:rPr dirty="0" sz="2300">
                <a:latin typeface="Times New Roman"/>
                <a:cs typeface="Times New Roman"/>
              </a:rPr>
              <a:t>Title</a:t>
            </a:r>
            <a:r>
              <a:rPr dirty="0" sz="2300" spc="-5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Justification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85"/>
              </a:spcBef>
              <a:buChar char="•"/>
              <a:tabLst>
                <a:tab pos="350520" algn="l"/>
              </a:tabLst>
            </a:pPr>
            <a:r>
              <a:rPr dirty="0" sz="2300" spc="-10">
                <a:latin typeface="Times New Roman"/>
                <a:cs typeface="Times New Roman"/>
              </a:rPr>
              <a:t>Abstract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90"/>
              </a:spcBef>
              <a:buChar char="•"/>
              <a:tabLst>
                <a:tab pos="350520" algn="l"/>
              </a:tabLst>
            </a:pPr>
            <a:r>
              <a:rPr dirty="0" sz="2300">
                <a:latin typeface="Times New Roman"/>
                <a:cs typeface="Times New Roman"/>
              </a:rPr>
              <a:t>Problem</a:t>
            </a:r>
            <a:r>
              <a:rPr dirty="0" sz="2300" spc="-5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statement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90"/>
              </a:spcBef>
              <a:buChar char="•"/>
              <a:tabLst>
                <a:tab pos="350520" algn="l"/>
              </a:tabLst>
            </a:pPr>
            <a:r>
              <a:rPr dirty="0" sz="2300">
                <a:latin typeface="Times New Roman"/>
                <a:cs typeface="Times New Roman"/>
              </a:rPr>
              <a:t>Objectives</a:t>
            </a:r>
            <a:r>
              <a:rPr dirty="0" sz="2300" spc="-7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of</a:t>
            </a:r>
            <a:r>
              <a:rPr dirty="0" sz="2300" spc="-4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Project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85"/>
              </a:spcBef>
              <a:buChar char="•"/>
              <a:tabLst>
                <a:tab pos="350520" algn="l"/>
              </a:tabLst>
            </a:pPr>
            <a:r>
              <a:rPr dirty="0" sz="2300">
                <a:latin typeface="Times New Roman"/>
                <a:cs typeface="Times New Roman"/>
              </a:rPr>
              <a:t>Literature</a:t>
            </a:r>
            <a:r>
              <a:rPr dirty="0" sz="2300" spc="-5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survey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for </a:t>
            </a:r>
            <a:r>
              <a:rPr dirty="0" sz="2300" spc="-10">
                <a:latin typeface="Times New Roman"/>
                <a:cs typeface="Times New Roman"/>
              </a:rPr>
              <a:t>objectives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600"/>
              </a:spcBef>
              <a:buChar char="•"/>
              <a:tabLst>
                <a:tab pos="350520" algn="l"/>
              </a:tabLst>
            </a:pPr>
            <a:r>
              <a:rPr dirty="0" sz="2300">
                <a:latin typeface="Times New Roman"/>
                <a:cs typeface="Times New Roman"/>
              </a:rPr>
              <a:t>Proposed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Work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-</a:t>
            </a:r>
            <a:r>
              <a:rPr dirty="0" sz="2300">
                <a:latin typeface="Times New Roman"/>
                <a:cs typeface="Times New Roman"/>
              </a:rPr>
              <a:t>(Methods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to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be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followed</a:t>
            </a:r>
            <a:r>
              <a:rPr dirty="0" sz="2300" spc="-6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for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proposed</a:t>
            </a:r>
            <a:r>
              <a:rPr dirty="0" sz="2300" spc="-3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system)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90"/>
              </a:spcBef>
              <a:buChar char="•"/>
              <a:tabLst>
                <a:tab pos="350520" algn="l"/>
              </a:tabLst>
            </a:pPr>
            <a:r>
              <a:rPr dirty="0" sz="2300" spc="-10">
                <a:latin typeface="Times New Roman"/>
                <a:cs typeface="Times New Roman"/>
              </a:rPr>
              <a:t>References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85"/>
              </a:spcBef>
              <a:buChar char="•"/>
              <a:tabLst>
                <a:tab pos="350520" algn="l"/>
              </a:tabLst>
            </a:pPr>
            <a:r>
              <a:rPr dirty="0" sz="2300">
                <a:latin typeface="Times New Roman"/>
                <a:cs typeface="Times New Roman"/>
              </a:rPr>
              <a:t>GitHub</a:t>
            </a:r>
            <a:r>
              <a:rPr dirty="0" sz="2300" spc="-30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Link</a:t>
            </a:r>
            <a:endParaRPr sz="23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90"/>
              </a:spcBef>
              <a:buChar char="•"/>
              <a:tabLst>
                <a:tab pos="350520" algn="l"/>
              </a:tabLst>
            </a:pPr>
            <a:r>
              <a:rPr dirty="0" sz="2300" spc="-10">
                <a:latin typeface="Times New Roman"/>
                <a:cs typeface="Times New Roman"/>
              </a:rPr>
              <a:t>Queries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3" y="1057655"/>
            <a:ext cx="10057130" cy="19240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09054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28344"/>
            <a:ext cx="10058400" cy="6736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" y="1249680"/>
            <a:ext cx="10057130" cy="58674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3985"/>
              </a:lnSpc>
            </a:pPr>
            <a:r>
              <a:rPr dirty="0" sz="3600" i="0">
                <a:solidFill>
                  <a:srgbClr val="000000"/>
                </a:solidFill>
                <a:latin typeface="Times New Roman"/>
                <a:cs typeface="Times New Roman"/>
              </a:rPr>
              <a:t>Title</a:t>
            </a:r>
            <a:r>
              <a:rPr dirty="0" sz="3600" spc="-7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000000"/>
                </a:solidFill>
                <a:latin typeface="Times New Roman"/>
                <a:cs typeface="Times New Roman"/>
              </a:rPr>
              <a:t>Justification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427721" y="1976132"/>
            <a:ext cx="9208135" cy="3042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985" indent="297180">
              <a:lnSpc>
                <a:spcPct val="101499"/>
              </a:lnSpc>
              <a:spcBef>
                <a:spcPts val="95"/>
              </a:spcBef>
              <a:buChar char="●"/>
              <a:tabLst>
                <a:tab pos="30988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7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title</a:t>
            </a:r>
            <a:r>
              <a:rPr dirty="0" sz="1950" spc="7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“Fake</a:t>
            </a:r>
            <a:r>
              <a:rPr dirty="0" sz="1950" spc="7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8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Prediction</a:t>
            </a:r>
            <a:r>
              <a:rPr dirty="0" sz="1950" spc="7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using</a:t>
            </a:r>
            <a:r>
              <a:rPr dirty="0" sz="1950" spc="8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Machine</a:t>
            </a:r>
            <a:r>
              <a:rPr dirty="0" sz="1950" spc="7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Learning”</a:t>
            </a:r>
            <a:r>
              <a:rPr dirty="0" sz="1950" spc="8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reflects</a:t>
            </a:r>
            <a:r>
              <a:rPr dirty="0" sz="1950" spc="6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75">
                <a:latin typeface="Microsoft Sans Serif"/>
                <a:cs typeface="Microsoft Sans Serif"/>
              </a:rPr>
              <a:t>  </a:t>
            </a:r>
            <a:r>
              <a:rPr dirty="0" sz="1950" spc="-10">
                <a:latin typeface="Microsoft Sans Serif"/>
                <a:cs typeface="Microsoft Sans Serif"/>
              </a:rPr>
              <a:t>modern </a:t>
            </a:r>
            <a:r>
              <a:rPr dirty="0" sz="1950">
                <a:latin typeface="Microsoft Sans Serif"/>
                <a:cs typeface="Microsoft Sans Serif"/>
              </a:rPr>
              <a:t>approach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combating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online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employment</a:t>
            </a:r>
            <a:r>
              <a:rPr dirty="0" sz="1950" spc="9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fraud.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5715" indent="289560">
              <a:lnSpc>
                <a:spcPct val="101499"/>
              </a:lnSpc>
              <a:buChar char="●"/>
              <a:tabLst>
                <a:tab pos="302260" algn="l"/>
              </a:tabLst>
            </a:pPr>
            <a:r>
              <a:rPr dirty="0" sz="1950">
                <a:latin typeface="Microsoft Sans Serif"/>
                <a:cs typeface="Microsoft Sans Serif"/>
              </a:rPr>
              <a:t>As</a:t>
            </a:r>
            <a:r>
              <a:rPr dirty="0" sz="1950" spc="3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fake</a:t>
            </a:r>
            <a:r>
              <a:rPr dirty="0" sz="1950" spc="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postings</a:t>
            </a:r>
            <a:r>
              <a:rPr dirty="0" sz="1950" spc="4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increasingly</a:t>
            </a:r>
            <a:r>
              <a:rPr dirty="0" sz="1950" spc="3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target</a:t>
            </a:r>
            <a:r>
              <a:rPr dirty="0" sz="1950" spc="4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seekers</a:t>
            </a:r>
            <a:r>
              <a:rPr dirty="0" sz="1950" spc="4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by</a:t>
            </a:r>
            <a:r>
              <a:rPr dirty="0" sz="1950" spc="3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collecting</a:t>
            </a:r>
            <a:r>
              <a:rPr dirty="0" sz="1950" spc="30">
                <a:latin typeface="Microsoft Sans Serif"/>
                <a:cs typeface="Microsoft Sans Serif"/>
              </a:rPr>
              <a:t>  </a:t>
            </a:r>
            <a:r>
              <a:rPr dirty="0" sz="1950" spc="-10">
                <a:latin typeface="Microsoft Sans Serif"/>
                <a:cs typeface="Microsoft Sans Serif"/>
              </a:rPr>
              <a:t>personal </a:t>
            </a:r>
            <a:r>
              <a:rPr dirty="0" sz="1950">
                <a:latin typeface="Microsoft Sans Serif"/>
                <a:cs typeface="Microsoft Sans Serif"/>
              </a:rPr>
              <a:t>information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or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demanding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money,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there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need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intelligent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system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that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can </a:t>
            </a:r>
            <a:r>
              <a:rPr dirty="0" sz="1950">
                <a:latin typeface="Microsoft Sans Serif"/>
                <a:cs typeface="Microsoft Sans Serif"/>
              </a:rPr>
              <a:t>differentiate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real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jobs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from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fraudulent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ones.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5080" indent="339090">
              <a:lnSpc>
                <a:spcPct val="101499"/>
              </a:lnSpc>
              <a:buChar char="●"/>
              <a:tabLst>
                <a:tab pos="351790" algn="l"/>
              </a:tabLst>
            </a:pPr>
            <a:r>
              <a:rPr dirty="0" sz="1950">
                <a:latin typeface="Microsoft Sans Serif"/>
                <a:cs typeface="Microsoft Sans Serif"/>
              </a:rPr>
              <a:t>Machine</a:t>
            </a:r>
            <a:r>
              <a:rPr dirty="0" sz="1950" spc="2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Learning</a:t>
            </a:r>
            <a:r>
              <a:rPr dirty="0" sz="1950" spc="26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enables</a:t>
            </a:r>
            <a:r>
              <a:rPr dirty="0" sz="1950" spc="254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automated</a:t>
            </a:r>
            <a:r>
              <a:rPr dirty="0" sz="1950" spc="26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pattern</a:t>
            </a:r>
            <a:r>
              <a:rPr dirty="0" sz="1950" spc="2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recognition</a:t>
            </a:r>
            <a:r>
              <a:rPr dirty="0" sz="1950" spc="25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based</a:t>
            </a:r>
            <a:r>
              <a:rPr dirty="0" sz="1950" spc="25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on</a:t>
            </a:r>
            <a:r>
              <a:rPr dirty="0" sz="1950" spc="245">
                <a:latin typeface="Microsoft Sans Serif"/>
                <a:cs typeface="Microsoft Sans Serif"/>
              </a:rPr>
              <a:t>  </a:t>
            </a:r>
            <a:r>
              <a:rPr dirty="0" sz="1950" spc="-25">
                <a:latin typeface="Microsoft Sans Serif"/>
                <a:cs typeface="Microsoft Sans Serif"/>
              </a:rPr>
              <a:t>job </a:t>
            </a:r>
            <a:r>
              <a:rPr dirty="0" sz="1950">
                <a:latin typeface="Microsoft Sans Serif"/>
                <a:cs typeface="Microsoft Sans Serif"/>
              </a:rPr>
              <a:t>description</a:t>
            </a:r>
            <a:r>
              <a:rPr dirty="0" sz="1950" spc="4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text,</a:t>
            </a:r>
            <a:r>
              <a:rPr dirty="0" sz="1950" spc="40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employer</a:t>
            </a:r>
            <a:r>
              <a:rPr dirty="0" sz="1950" spc="4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details,</a:t>
            </a:r>
            <a:r>
              <a:rPr dirty="0" sz="1950" spc="40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4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posting</a:t>
            </a:r>
            <a:r>
              <a:rPr dirty="0" sz="1950" spc="43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behaviour,</a:t>
            </a:r>
            <a:r>
              <a:rPr dirty="0" sz="1950" spc="40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making</a:t>
            </a:r>
            <a:r>
              <a:rPr dirty="0" sz="1950" spc="4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it</a:t>
            </a:r>
            <a:r>
              <a:rPr dirty="0" sz="1950" spc="40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suitable</a:t>
            </a:r>
            <a:r>
              <a:rPr dirty="0" sz="1950" spc="41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for </a:t>
            </a:r>
            <a:r>
              <a:rPr dirty="0" sz="1950">
                <a:latin typeface="Microsoft Sans Serif"/>
                <a:cs typeface="Microsoft Sans Serif"/>
              </a:rPr>
              <a:t>identifying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suspicious</a:t>
            </a:r>
            <a:r>
              <a:rPr dirty="0" sz="1950" spc="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deceptive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listings.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6350" indent="227329">
              <a:lnSpc>
                <a:spcPct val="101499"/>
              </a:lnSpc>
              <a:buChar char="●"/>
              <a:tabLst>
                <a:tab pos="240029" algn="l"/>
              </a:tabLst>
            </a:pPr>
            <a:r>
              <a:rPr dirty="0" sz="1950">
                <a:latin typeface="Microsoft Sans Serif"/>
                <a:cs typeface="Microsoft Sans Serif"/>
              </a:rPr>
              <a:t>Hence,</a:t>
            </a:r>
            <a:r>
              <a:rPr dirty="0" sz="1950" spc="11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1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title</a:t>
            </a:r>
            <a:r>
              <a:rPr dirty="0" sz="1950" spc="1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appropriately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represents</a:t>
            </a:r>
            <a:r>
              <a:rPr dirty="0" sz="1950" spc="1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10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system</a:t>
            </a:r>
            <a:r>
              <a:rPr dirty="0" sz="1950" spc="10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that</a:t>
            </a:r>
            <a:r>
              <a:rPr dirty="0" sz="1950" spc="1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leverages</a:t>
            </a:r>
            <a:r>
              <a:rPr dirty="0" sz="1950" spc="11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ML</a:t>
            </a:r>
            <a:r>
              <a:rPr dirty="0" sz="1950" spc="12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techniques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enhance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online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safety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protect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users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from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employment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scams.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290258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751205">
              <a:lnSpc>
                <a:spcPts val="2620"/>
              </a:lnSpc>
            </a:pPr>
            <a:r>
              <a:rPr dirty="0" sz="2300" spc="-10" i="0">
                <a:solidFill>
                  <a:srgbClr val="000000"/>
                </a:solidFill>
                <a:latin typeface="Times New Roman"/>
                <a:cs typeface="Times New Roman"/>
              </a:rPr>
              <a:t>Abstract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84433" y="1858752"/>
            <a:ext cx="9464675" cy="4250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67335">
              <a:lnSpc>
                <a:spcPct val="101499"/>
              </a:lnSpc>
              <a:spcBef>
                <a:spcPts val="95"/>
              </a:spcBef>
              <a:buChar char="●"/>
              <a:tabLst>
                <a:tab pos="280035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43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rise</a:t>
            </a:r>
            <a:r>
              <a:rPr dirty="0" sz="1950" spc="4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40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online</a:t>
            </a:r>
            <a:r>
              <a:rPr dirty="0" sz="1950" spc="4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4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portals</a:t>
            </a:r>
            <a:r>
              <a:rPr dirty="0" sz="1950" spc="4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has</a:t>
            </a:r>
            <a:r>
              <a:rPr dirty="0" sz="1950" spc="4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also</a:t>
            </a:r>
            <a:r>
              <a:rPr dirty="0" sz="1950" spc="43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increased</a:t>
            </a:r>
            <a:r>
              <a:rPr dirty="0" sz="1950" spc="40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43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number</a:t>
            </a:r>
            <a:r>
              <a:rPr dirty="0" sz="1950" spc="4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4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fraudulent</a:t>
            </a:r>
            <a:r>
              <a:rPr dirty="0" sz="1950" spc="41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job </a:t>
            </a:r>
            <a:r>
              <a:rPr dirty="0" sz="1950">
                <a:latin typeface="Microsoft Sans Serif"/>
                <a:cs typeface="Microsoft Sans Serif"/>
              </a:rPr>
              <a:t>postings</a:t>
            </a:r>
            <a:r>
              <a:rPr dirty="0" sz="1950" spc="1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that</a:t>
            </a:r>
            <a:r>
              <a:rPr dirty="0" sz="1950" spc="11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mislead</a:t>
            </a:r>
            <a:r>
              <a:rPr dirty="0" sz="1950" spc="1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11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seekers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into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scams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such</a:t>
            </a:r>
            <a:r>
              <a:rPr dirty="0" sz="1950" spc="11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as</a:t>
            </a:r>
            <a:r>
              <a:rPr dirty="0" sz="1950" spc="1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identity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theft,</a:t>
            </a:r>
            <a:r>
              <a:rPr dirty="0" sz="1950" spc="1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money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extortion, </a:t>
            </a:r>
            <a:r>
              <a:rPr dirty="0" sz="1950">
                <a:latin typeface="Microsoft Sans Serif"/>
                <a:cs typeface="Microsoft Sans Serif"/>
              </a:rPr>
              <a:t>or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phishing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attacks.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Traditional</a:t>
            </a:r>
            <a:r>
              <a:rPr dirty="0" sz="1950" spc="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manual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verification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time-consuming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unreliable.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5080" indent="344170">
              <a:lnSpc>
                <a:spcPct val="101499"/>
              </a:lnSpc>
              <a:buChar char="●"/>
              <a:tabLst>
                <a:tab pos="35687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This</a:t>
            </a:r>
            <a:r>
              <a:rPr dirty="0" sz="1950" spc="254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study</a:t>
            </a:r>
            <a:r>
              <a:rPr dirty="0" sz="1950" spc="254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proposes</a:t>
            </a:r>
            <a:r>
              <a:rPr dirty="0" sz="1950" spc="254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26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Machine</a:t>
            </a:r>
            <a:r>
              <a:rPr dirty="0" sz="1950" spc="245">
                <a:latin typeface="Microsoft Sans Serif"/>
                <a:cs typeface="Microsoft Sans Serif"/>
              </a:rPr>
              <a:t>  </a:t>
            </a:r>
            <a:r>
              <a:rPr dirty="0" sz="1950" spc="45">
                <a:latin typeface="Microsoft Sans Serif"/>
                <a:cs typeface="Microsoft Sans Serif"/>
              </a:rPr>
              <a:t>Learning–based</a:t>
            </a:r>
            <a:r>
              <a:rPr dirty="0" sz="1950" spc="26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classification</a:t>
            </a:r>
            <a:r>
              <a:rPr dirty="0" sz="1950" spc="26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model</a:t>
            </a:r>
            <a:r>
              <a:rPr dirty="0" sz="1950" spc="260">
                <a:latin typeface="Microsoft Sans Serif"/>
                <a:cs typeface="Microsoft Sans Serif"/>
              </a:rPr>
              <a:t>  </a:t>
            </a:r>
            <a:r>
              <a:rPr dirty="0" sz="1950" spc="-20">
                <a:latin typeface="Microsoft Sans Serif"/>
                <a:cs typeface="Microsoft Sans Serif"/>
              </a:rPr>
              <a:t>that </a:t>
            </a:r>
            <a:r>
              <a:rPr dirty="0" sz="1950">
                <a:latin typeface="Microsoft Sans Serif"/>
                <a:cs typeface="Microsoft Sans Serif"/>
              </a:rPr>
              <a:t>automatically</a:t>
            </a:r>
            <a:r>
              <a:rPr dirty="0" sz="1950" spc="3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predicts</a:t>
            </a:r>
            <a:r>
              <a:rPr dirty="0" sz="1950" spc="3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whether</a:t>
            </a:r>
            <a:r>
              <a:rPr dirty="0" sz="1950" spc="3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3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3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posting</a:t>
            </a:r>
            <a:r>
              <a:rPr dirty="0" sz="1950" spc="3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3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real</a:t>
            </a:r>
            <a:r>
              <a:rPr dirty="0" sz="1950" spc="3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or</a:t>
            </a:r>
            <a:r>
              <a:rPr dirty="0" sz="1950" spc="3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fake</a:t>
            </a:r>
            <a:r>
              <a:rPr dirty="0" sz="1950" spc="3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using</a:t>
            </a:r>
            <a:r>
              <a:rPr dirty="0" sz="1950" spc="3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features</a:t>
            </a:r>
            <a:r>
              <a:rPr dirty="0" sz="1950" spc="3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like</a:t>
            </a:r>
            <a:r>
              <a:rPr dirty="0" sz="1950" spc="32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job </a:t>
            </a:r>
            <a:r>
              <a:rPr dirty="0" sz="1950">
                <a:latin typeface="Microsoft Sans Serif"/>
                <a:cs typeface="Microsoft Sans Serif"/>
              </a:rPr>
              <a:t>description,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company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profile,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benefits,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requirements,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metadata.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5080" indent="252095">
              <a:lnSpc>
                <a:spcPct val="101499"/>
              </a:lnSpc>
              <a:buChar char="●"/>
              <a:tabLst>
                <a:tab pos="264795" algn="l"/>
              </a:tabLst>
            </a:pPr>
            <a:r>
              <a:rPr dirty="0" sz="1950">
                <a:latin typeface="Microsoft Sans Serif"/>
                <a:cs typeface="Microsoft Sans Serif"/>
              </a:rPr>
              <a:t>Various</a:t>
            </a:r>
            <a:r>
              <a:rPr dirty="0" sz="1950" spc="3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ML</a:t>
            </a:r>
            <a:r>
              <a:rPr dirty="0" sz="1950" spc="3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algorithms</a:t>
            </a:r>
            <a:r>
              <a:rPr dirty="0" sz="1950" spc="3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such</a:t>
            </a:r>
            <a:r>
              <a:rPr dirty="0" sz="1950" spc="3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as</a:t>
            </a:r>
            <a:r>
              <a:rPr dirty="0" sz="1950" spc="3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Logistic</a:t>
            </a:r>
            <a:r>
              <a:rPr dirty="0" sz="1950" spc="33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Regression,</a:t>
            </a:r>
            <a:r>
              <a:rPr dirty="0" sz="1950" spc="3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Random</a:t>
            </a:r>
            <a:r>
              <a:rPr dirty="0" sz="1950" spc="31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Forest,</a:t>
            </a:r>
            <a:r>
              <a:rPr dirty="0" sz="1950" spc="30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31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Naïve </a:t>
            </a:r>
            <a:r>
              <a:rPr dirty="0" sz="1950">
                <a:latin typeface="Microsoft Sans Serif"/>
                <a:cs typeface="Microsoft Sans Serif"/>
              </a:rPr>
              <a:t>Bayes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are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evaluated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determine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most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accurate</a:t>
            </a:r>
            <a:r>
              <a:rPr dirty="0" sz="1950" spc="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prediction</a:t>
            </a:r>
            <a:r>
              <a:rPr dirty="0" sz="1950" spc="7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model.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5080" indent="240029">
              <a:lnSpc>
                <a:spcPct val="101499"/>
              </a:lnSpc>
              <a:buChar char="●"/>
              <a:tabLst>
                <a:tab pos="252729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22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system</a:t>
            </a:r>
            <a:r>
              <a:rPr dirty="0" sz="1950" spc="1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aims</a:t>
            </a:r>
            <a:r>
              <a:rPr dirty="0" sz="1950" spc="2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2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improve</a:t>
            </a:r>
            <a:r>
              <a:rPr dirty="0" sz="1950" spc="2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safety</a:t>
            </a:r>
            <a:r>
              <a:rPr dirty="0" sz="1950" spc="2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in</a:t>
            </a:r>
            <a:r>
              <a:rPr dirty="0" sz="1950" spc="22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</a:t>
            </a:r>
            <a:r>
              <a:rPr dirty="0" sz="1950" spc="22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portals</a:t>
            </a:r>
            <a:r>
              <a:rPr dirty="0" sz="1950" spc="204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by</a:t>
            </a:r>
            <a:r>
              <a:rPr dirty="0" sz="1950" spc="2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providing</a:t>
            </a:r>
            <a:r>
              <a:rPr dirty="0" sz="1950" spc="229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real-time</a:t>
            </a:r>
            <a:r>
              <a:rPr dirty="0" sz="1950" spc="229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detection </a:t>
            </a:r>
            <a:r>
              <a:rPr dirty="0" sz="1950">
                <a:latin typeface="Microsoft Sans Serif"/>
                <a:cs typeface="Microsoft Sans Serif"/>
              </a:rPr>
              <a:t>of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suspicious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postings.</a:t>
            </a:r>
            <a:endParaRPr sz="1950">
              <a:latin typeface="Microsoft Sans Serif"/>
              <a:cs typeface="Microsoft Sans Serif"/>
            </a:endParaRPr>
          </a:p>
          <a:p>
            <a:pPr algn="just" marL="12700" marR="7620" indent="287655">
              <a:lnSpc>
                <a:spcPts val="2380"/>
              </a:lnSpc>
              <a:spcBef>
                <a:spcPts val="85"/>
              </a:spcBef>
              <a:buChar char="●"/>
              <a:tabLst>
                <a:tab pos="300355" algn="l"/>
              </a:tabLst>
            </a:pPr>
            <a:r>
              <a:rPr dirty="0" sz="1950">
                <a:latin typeface="Microsoft Sans Serif"/>
                <a:cs typeface="Microsoft Sans Serif"/>
              </a:rPr>
              <a:t>Experimental</a:t>
            </a:r>
            <a:r>
              <a:rPr dirty="0" sz="1950" spc="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results</a:t>
            </a:r>
            <a:r>
              <a:rPr dirty="0" sz="1950" spc="4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show</a:t>
            </a:r>
            <a:r>
              <a:rPr dirty="0" sz="1950" spc="4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improved</a:t>
            </a:r>
            <a:r>
              <a:rPr dirty="0" sz="1950" spc="3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accuracy,</a:t>
            </a:r>
            <a:r>
              <a:rPr dirty="0" sz="1950" spc="4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reduced</a:t>
            </a:r>
            <a:r>
              <a:rPr dirty="0" sz="1950" spc="45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false</a:t>
            </a:r>
            <a:r>
              <a:rPr dirty="0" sz="1950" spc="50">
                <a:latin typeface="Microsoft Sans Serif"/>
                <a:cs typeface="Microsoft Sans Serif"/>
              </a:rPr>
              <a:t>  </a:t>
            </a:r>
            <a:r>
              <a:rPr dirty="0" sz="1950">
                <a:latin typeface="Microsoft Sans Serif"/>
                <a:cs typeface="Microsoft Sans Serif"/>
              </a:rPr>
              <a:t>predictions,</a:t>
            </a:r>
            <a:r>
              <a:rPr dirty="0" sz="1950" spc="30">
                <a:latin typeface="Microsoft Sans Serif"/>
                <a:cs typeface="Microsoft Sans Serif"/>
              </a:rPr>
              <a:t>  </a:t>
            </a:r>
            <a:r>
              <a:rPr dirty="0" sz="1950" spc="-25">
                <a:latin typeface="Microsoft Sans Serif"/>
                <a:cs typeface="Microsoft Sans Serif"/>
              </a:rPr>
              <a:t>and </a:t>
            </a:r>
            <a:r>
              <a:rPr dirty="0" sz="1950">
                <a:latin typeface="Microsoft Sans Serif"/>
                <a:cs typeface="Microsoft Sans Serif"/>
              </a:rPr>
              <a:t>strong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capability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7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identify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deceptive</a:t>
            </a:r>
            <a:r>
              <a:rPr dirty="0" sz="1950" spc="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patterns.</a:t>
            </a:r>
            <a:endParaRPr sz="1950">
              <a:latin typeface="Microsoft Sans Serif"/>
              <a:cs typeface="Microsoft Sans Serif"/>
            </a:endParaRPr>
          </a:p>
          <a:p>
            <a:pPr algn="just" marL="237490" indent="-224790">
              <a:lnSpc>
                <a:spcPts val="2285"/>
              </a:lnSpc>
              <a:buChar char="●"/>
              <a:tabLst>
                <a:tab pos="23749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findings</a:t>
            </a:r>
            <a:r>
              <a:rPr dirty="0" sz="1950" spc="10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highlight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ML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as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scalable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reliable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approach</a:t>
            </a:r>
            <a:r>
              <a:rPr dirty="0" sz="1950" spc="6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8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modern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job-</a:t>
            </a:r>
            <a:r>
              <a:rPr dirty="0" sz="1950" spc="-10">
                <a:latin typeface="Microsoft Sans Serif"/>
                <a:cs typeface="Microsoft Sans Serif"/>
              </a:rPr>
              <a:t>fraud</a:t>
            </a:r>
            <a:endParaRPr sz="1950">
              <a:latin typeface="Microsoft Sans Serif"/>
              <a:cs typeface="Microsoft Sans Serif"/>
            </a:endParaRPr>
          </a:p>
          <a:p>
            <a:pPr algn="just" marL="12700">
              <a:lnSpc>
                <a:spcPct val="100000"/>
              </a:lnSpc>
              <a:spcBef>
                <a:spcPts val="35"/>
              </a:spcBef>
            </a:pPr>
            <a:r>
              <a:rPr dirty="0" sz="1950">
                <a:latin typeface="Microsoft Sans Serif"/>
                <a:cs typeface="Microsoft Sans Serif"/>
              </a:rPr>
              <a:t>detection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systems.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28104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39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3600" spc="-9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346930" y="2108737"/>
            <a:ext cx="9373870" cy="3555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19100" marR="6985" indent="-407034">
              <a:lnSpc>
                <a:spcPct val="101499"/>
              </a:lnSpc>
              <a:spcBef>
                <a:spcPts val="95"/>
              </a:spcBef>
              <a:buChar char="□"/>
              <a:tabLst>
                <a:tab pos="419100" algn="l"/>
              </a:tabLst>
            </a:pPr>
            <a:r>
              <a:rPr dirty="0" sz="1950">
                <a:latin typeface="Times New Roman"/>
                <a:cs typeface="Times New Roman"/>
              </a:rPr>
              <a:t>●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Online</a:t>
            </a:r>
            <a:r>
              <a:rPr dirty="0" sz="1950" spc="2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fraud</a:t>
            </a:r>
            <a:r>
              <a:rPr dirty="0" sz="1950" spc="2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has</a:t>
            </a:r>
            <a:r>
              <a:rPr dirty="0" sz="1950" spc="2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become</a:t>
            </a:r>
            <a:r>
              <a:rPr dirty="0" sz="1950" spc="25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2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major</a:t>
            </a:r>
            <a:r>
              <a:rPr dirty="0" sz="1950" spc="25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problem,</a:t>
            </a:r>
            <a:r>
              <a:rPr dirty="0" sz="1950" spc="2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with</a:t>
            </a:r>
            <a:r>
              <a:rPr dirty="0" sz="1950" spc="2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thousands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2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2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seekers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being </a:t>
            </a:r>
            <a:r>
              <a:rPr dirty="0" sz="1950">
                <a:latin typeface="Times New Roman"/>
                <a:cs typeface="Times New Roman"/>
              </a:rPr>
              <a:t>misled</a:t>
            </a:r>
            <a:r>
              <a:rPr dirty="0" sz="1950" spc="25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through</a:t>
            </a:r>
            <a:r>
              <a:rPr dirty="0" sz="1950" spc="2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fake</a:t>
            </a:r>
            <a:r>
              <a:rPr dirty="0" sz="1950" spc="2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postings</a:t>
            </a:r>
            <a:r>
              <a:rPr dirty="0" sz="1950" spc="2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2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demand</a:t>
            </a:r>
            <a:r>
              <a:rPr dirty="0" sz="1950" spc="2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upfront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payments,</a:t>
            </a:r>
            <a:r>
              <a:rPr dirty="0" sz="1950" spc="2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collect</a:t>
            </a:r>
            <a:r>
              <a:rPr dirty="0" sz="1950" spc="2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sensitive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personal </a:t>
            </a:r>
            <a:r>
              <a:rPr dirty="0" sz="1950">
                <a:latin typeface="Times New Roman"/>
                <a:cs typeface="Times New Roman"/>
              </a:rPr>
              <a:t>information,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or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promise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unrealistic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offers.</a:t>
            </a:r>
            <a:endParaRPr sz="1950">
              <a:latin typeface="Times New Roman"/>
              <a:cs typeface="Times New Roman"/>
            </a:endParaRPr>
          </a:p>
          <a:p>
            <a:pPr algn="just" marL="419100" marR="8255" indent="-407034">
              <a:lnSpc>
                <a:spcPct val="101499"/>
              </a:lnSpc>
              <a:spcBef>
                <a:spcPts val="420"/>
              </a:spcBef>
              <a:buChar char="□"/>
              <a:tabLst>
                <a:tab pos="419100" algn="l"/>
              </a:tabLst>
            </a:pPr>
            <a:r>
              <a:rPr dirty="0" sz="1950">
                <a:latin typeface="Times New Roman"/>
                <a:cs typeface="Times New Roman"/>
              </a:rPr>
              <a:t>●</a:t>
            </a:r>
            <a:r>
              <a:rPr dirty="0" sz="1950" spc="229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Manual</a:t>
            </a:r>
            <a:r>
              <a:rPr dirty="0" sz="1950" spc="2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verification</a:t>
            </a:r>
            <a:r>
              <a:rPr dirty="0" sz="1950" spc="229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2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large</a:t>
            </a:r>
            <a:r>
              <a:rPr dirty="0" sz="1950" spc="2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volumes</a:t>
            </a:r>
            <a:r>
              <a:rPr dirty="0" sz="1950" spc="2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2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2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postings</a:t>
            </a:r>
            <a:r>
              <a:rPr dirty="0" sz="1950" spc="229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2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difficult,</a:t>
            </a:r>
            <a:r>
              <a:rPr dirty="0" sz="1950" spc="2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slow,</a:t>
            </a:r>
            <a:r>
              <a:rPr dirty="0" sz="1950" spc="229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2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prone</a:t>
            </a:r>
            <a:r>
              <a:rPr dirty="0" sz="1950" spc="220">
                <a:latin typeface="Times New Roman"/>
                <a:cs typeface="Times New Roman"/>
              </a:rPr>
              <a:t> </a:t>
            </a:r>
            <a:r>
              <a:rPr dirty="0" sz="1950" spc="-25">
                <a:latin typeface="Times New Roman"/>
                <a:cs typeface="Times New Roman"/>
              </a:rPr>
              <a:t>to </a:t>
            </a:r>
            <a:r>
              <a:rPr dirty="0" sz="1950" spc="-10">
                <a:latin typeface="Times New Roman"/>
                <a:cs typeface="Times New Roman"/>
              </a:rPr>
              <a:t>errors.</a:t>
            </a:r>
            <a:endParaRPr sz="1950">
              <a:latin typeface="Times New Roman"/>
              <a:cs typeface="Times New Roman"/>
            </a:endParaRPr>
          </a:p>
          <a:p>
            <a:pPr algn="just" marL="419100" marR="5080" indent="-407034">
              <a:lnSpc>
                <a:spcPct val="101600"/>
              </a:lnSpc>
              <a:spcBef>
                <a:spcPts val="405"/>
              </a:spcBef>
              <a:buChar char="□"/>
              <a:tabLst>
                <a:tab pos="419100" algn="l"/>
              </a:tabLst>
            </a:pPr>
            <a:r>
              <a:rPr dirty="0" sz="1950">
                <a:latin typeface="Times New Roman"/>
                <a:cs typeface="Times New Roman"/>
              </a:rPr>
              <a:t>●</a:t>
            </a:r>
            <a:r>
              <a:rPr dirty="0" sz="1950" spc="459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There</a:t>
            </a:r>
            <a:r>
              <a:rPr dirty="0" sz="1950" spc="4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4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4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need</a:t>
            </a:r>
            <a:r>
              <a:rPr dirty="0" sz="1950" spc="4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4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</a:t>
            </a:r>
            <a:r>
              <a:rPr dirty="0" sz="1950" spc="4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automated</a:t>
            </a:r>
            <a:r>
              <a:rPr dirty="0" sz="1950" spc="48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system</a:t>
            </a:r>
            <a:r>
              <a:rPr dirty="0" sz="1950" spc="4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4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analyzes</a:t>
            </a:r>
            <a:r>
              <a:rPr dirty="0" sz="1950" spc="459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48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postings</a:t>
            </a:r>
            <a:r>
              <a:rPr dirty="0" sz="1950" spc="4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459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reliably </a:t>
            </a:r>
            <a:r>
              <a:rPr dirty="0" sz="1950">
                <a:latin typeface="Times New Roman"/>
                <a:cs typeface="Times New Roman"/>
              </a:rPr>
              <a:t>classifies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them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as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genuine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or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fraudulent.</a:t>
            </a:r>
            <a:endParaRPr sz="1950">
              <a:latin typeface="Times New Roman"/>
              <a:cs typeface="Times New Roman"/>
            </a:endParaRPr>
          </a:p>
          <a:p>
            <a:pPr algn="just" marL="419100" marR="5080" indent="-407034">
              <a:lnSpc>
                <a:spcPct val="101600"/>
              </a:lnSpc>
              <a:spcBef>
                <a:spcPts val="405"/>
              </a:spcBef>
              <a:buChar char="□"/>
              <a:tabLst>
                <a:tab pos="419100" algn="l"/>
              </a:tabLst>
            </a:pPr>
            <a:r>
              <a:rPr dirty="0" sz="1950">
                <a:latin typeface="Times New Roman"/>
                <a:cs typeface="Times New Roman"/>
              </a:rPr>
              <a:t>●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By</a:t>
            </a:r>
            <a:r>
              <a:rPr dirty="0" sz="1950" spc="13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15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Machine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Learning,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seekers</a:t>
            </a:r>
            <a:r>
              <a:rPr dirty="0" sz="1950" spc="15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can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be</a:t>
            </a:r>
            <a:r>
              <a:rPr dirty="0" sz="1950" spc="15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protected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from</a:t>
            </a:r>
            <a:r>
              <a:rPr dirty="0" sz="1950" spc="14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scams,</a:t>
            </a:r>
            <a:r>
              <a:rPr dirty="0" sz="1950" spc="145">
                <a:latin typeface="Times New Roman"/>
                <a:cs typeface="Times New Roman"/>
              </a:rPr>
              <a:t>  </a:t>
            </a:r>
            <a:r>
              <a:rPr dirty="0" sz="1950" spc="-10">
                <a:latin typeface="Times New Roman"/>
                <a:cs typeface="Times New Roman"/>
              </a:rPr>
              <a:t>false </a:t>
            </a:r>
            <a:r>
              <a:rPr dirty="0" sz="1950">
                <a:latin typeface="Times New Roman"/>
                <a:cs typeface="Times New Roman"/>
              </a:rPr>
              <a:t>opportunities,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financial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losses.</a:t>
            </a:r>
            <a:endParaRPr sz="1950">
              <a:latin typeface="Times New Roman"/>
              <a:cs typeface="Times New Roman"/>
            </a:endParaRPr>
          </a:p>
          <a:p>
            <a:pPr algn="just" marL="419100" marR="8255" indent="-407034">
              <a:lnSpc>
                <a:spcPct val="101600"/>
              </a:lnSpc>
              <a:spcBef>
                <a:spcPts val="420"/>
              </a:spcBef>
              <a:buChar char="□"/>
              <a:tabLst>
                <a:tab pos="419100" algn="l"/>
              </a:tabLst>
            </a:pPr>
            <a:r>
              <a:rPr dirty="0" sz="1950">
                <a:latin typeface="Times New Roman"/>
                <a:cs typeface="Times New Roman"/>
              </a:rPr>
              <a:t>●</a:t>
            </a:r>
            <a:r>
              <a:rPr dirty="0" sz="1950" spc="20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1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system</a:t>
            </a:r>
            <a:r>
              <a:rPr dirty="0" sz="1950" spc="19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must</a:t>
            </a:r>
            <a:r>
              <a:rPr dirty="0" sz="1950" spc="20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provide</a:t>
            </a:r>
            <a:r>
              <a:rPr dirty="0" sz="1950" spc="20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fast,</a:t>
            </a:r>
            <a:r>
              <a:rPr dirty="0" sz="1950" spc="20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accurate,</a:t>
            </a:r>
            <a:r>
              <a:rPr dirty="0" sz="1950" spc="18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real-</a:t>
            </a:r>
            <a:r>
              <a:rPr dirty="0" sz="1950">
                <a:latin typeface="Times New Roman"/>
                <a:cs typeface="Times New Roman"/>
              </a:rPr>
              <a:t>time</a:t>
            </a:r>
            <a:r>
              <a:rPr dirty="0" sz="1950" spc="1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prediction</a:t>
            </a:r>
            <a:r>
              <a:rPr dirty="0" sz="1950" spc="2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20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ensure</a:t>
            </a:r>
            <a:r>
              <a:rPr dirty="0" sz="1950" spc="1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user</a:t>
            </a:r>
            <a:r>
              <a:rPr dirty="0" sz="1950" spc="1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safety</a:t>
            </a:r>
            <a:r>
              <a:rPr dirty="0" sz="1950" spc="190">
                <a:latin typeface="Times New Roman"/>
                <a:cs typeface="Times New Roman"/>
              </a:rPr>
              <a:t> </a:t>
            </a:r>
            <a:r>
              <a:rPr dirty="0" sz="1950" spc="-25">
                <a:latin typeface="Times New Roman"/>
                <a:cs typeface="Times New Roman"/>
              </a:rPr>
              <a:t>on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platforms.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1206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39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3600" spc="-6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3600" spc="9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503969" y="2110211"/>
            <a:ext cx="8802370" cy="21380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620" indent="215900">
              <a:lnSpc>
                <a:spcPct val="101600"/>
              </a:lnSpc>
              <a:spcBef>
                <a:spcPts val="90"/>
              </a:spcBef>
              <a:buChar char="●"/>
              <a:tabLst>
                <a:tab pos="228600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develop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Machine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Learning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model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accurately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predicts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whether</a:t>
            </a:r>
            <a:r>
              <a:rPr dirty="0" sz="1950" spc="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posting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real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or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fake.</a:t>
            </a:r>
            <a:endParaRPr sz="1950">
              <a:latin typeface="Times New Roman"/>
              <a:cs typeface="Times New Roman"/>
            </a:endParaRPr>
          </a:p>
          <a:p>
            <a:pPr marL="226695" indent="-213995">
              <a:lnSpc>
                <a:spcPct val="100000"/>
              </a:lnSpc>
              <a:spcBef>
                <a:spcPts val="35"/>
              </a:spcBef>
              <a:buChar char="●"/>
              <a:tabLst>
                <a:tab pos="22669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analyze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job-related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textual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metadata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features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help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identify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fraud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patterns.</a:t>
            </a:r>
            <a:endParaRPr sz="1950">
              <a:latin typeface="Times New Roman"/>
              <a:cs typeface="Times New Roman"/>
            </a:endParaRPr>
          </a:p>
          <a:p>
            <a:pPr marL="12700" marR="5080" indent="243204">
              <a:lnSpc>
                <a:spcPct val="101499"/>
              </a:lnSpc>
              <a:spcBef>
                <a:spcPts val="5"/>
              </a:spcBef>
              <a:buChar char="●"/>
              <a:tabLst>
                <a:tab pos="255904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2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evaluate</a:t>
            </a:r>
            <a:r>
              <a:rPr dirty="0" sz="1950" spc="2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multiple</a:t>
            </a:r>
            <a:r>
              <a:rPr dirty="0" sz="1950" spc="25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ML</a:t>
            </a:r>
            <a:r>
              <a:rPr dirty="0" sz="1950" spc="2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algorithms</a:t>
            </a:r>
            <a:r>
              <a:rPr dirty="0" sz="1950" spc="2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2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determine</a:t>
            </a:r>
            <a:r>
              <a:rPr dirty="0" sz="1950" spc="2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2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best-performing</a:t>
            </a:r>
            <a:r>
              <a:rPr dirty="0" sz="1950" spc="2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model</a:t>
            </a:r>
            <a:r>
              <a:rPr dirty="0" sz="1950" spc="265">
                <a:latin typeface="Times New Roman"/>
                <a:cs typeface="Times New Roman"/>
              </a:rPr>
              <a:t> </a:t>
            </a:r>
            <a:r>
              <a:rPr dirty="0" sz="1950" spc="-25">
                <a:latin typeface="Times New Roman"/>
                <a:cs typeface="Times New Roman"/>
              </a:rPr>
              <a:t>for </a:t>
            </a:r>
            <a:r>
              <a:rPr dirty="0" sz="1950">
                <a:latin typeface="Times New Roman"/>
                <a:cs typeface="Times New Roman"/>
              </a:rPr>
              <a:t>fake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detection.</a:t>
            </a:r>
            <a:endParaRPr sz="1950">
              <a:latin typeface="Times New Roman"/>
              <a:cs typeface="Times New Roman"/>
            </a:endParaRPr>
          </a:p>
          <a:p>
            <a:pPr marL="226695" indent="-213995">
              <a:lnSpc>
                <a:spcPct val="100000"/>
              </a:lnSpc>
              <a:spcBef>
                <a:spcPts val="35"/>
              </a:spcBef>
              <a:buChar char="●"/>
              <a:tabLst>
                <a:tab pos="22669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enhance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user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safety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by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reducing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exposure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fraudulent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advertisements.</a:t>
            </a:r>
            <a:endParaRPr sz="1950">
              <a:latin typeface="Times New Roman"/>
              <a:cs typeface="Times New Roman"/>
            </a:endParaRPr>
          </a:p>
          <a:p>
            <a:pPr marL="226695" indent="-213995">
              <a:lnSpc>
                <a:spcPct val="100000"/>
              </a:lnSpc>
              <a:spcBef>
                <a:spcPts val="35"/>
              </a:spcBef>
              <a:buChar char="●"/>
              <a:tabLst>
                <a:tab pos="22669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provide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automated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scalable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solution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can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be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integrated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into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portals.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90842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620"/>
              </a:lnSpc>
            </a:pPr>
            <a:r>
              <a:rPr dirty="0" sz="2300" i="0">
                <a:solidFill>
                  <a:srgbClr val="000000"/>
                </a:solidFill>
                <a:latin typeface="Times New Roman"/>
                <a:cs typeface="Times New Roman"/>
              </a:rPr>
              <a:t>Literature</a:t>
            </a:r>
            <a:r>
              <a:rPr dirty="0" sz="2300" spc="-40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300" i="0">
                <a:solidFill>
                  <a:srgbClr val="000000"/>
                </a:solidFill>
                <a:latin typeface="Times New Roman"/>
                <a:cs typeface="Times New Roman"/>
              </a:rPr>
              <a:t>survey</a:t>
            </a:r>
            <a:r>
              <a:rPr dirty="0" sz="2300" spc="-5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300" i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dirty="0" sz="2300" spc="-15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300" spc="-10" i="0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377432" y="2110226"/>
            <a:ext cx="9306560" cy="39484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6350" indent="-635">
              <a:lnSpc>
                <a:spcPct val="101499"/>
              </a:lnSpc>
              <a:spcBef>
                <a:spcPts val="95"/>
              </a:spcBef>
              <a:buSzPct val="74358"/>
              <a:buFont typeface="Microsoft Sans Serif"/>
              <a:buChar char="●"/>
              <a:tabLst>
                <a:tab pos="12700" algn="l"/>
                <a:tab pos="243204" algn="l"/>
              </a:tabLst>
            </a:pP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>
                <a:latin typeface="Times New Roman"/>
                <a:cs typeface="Times New Roman"/>
              </a:rPr>
              <a:t>Research</a:t>
            </a:r>
            <a:r>
              <a:rPr dirty="0" sz="1950" spc="114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indicates</a:t>
            </a:r>
            <a:r>
              <a:rPr dirty="0" sz="1950" spc="11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12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fraudulent</a:t>
            </a:r>
            <a:r>
              <a:rPr dirty="0" sz="1950" spc="12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114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postings</a:t>
            </a:r>
            <a:r>
              <a:rPr dirty="0" sz="1950" spc="12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often</a:t>
            </a:r>
            <a:r>
              <a:rPr dirty="0" sz="1950" spc="114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share</a:t>
            </a:r>
            <a:r>
              <a:rPr dirty="0" sz="1950" spc="12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identifiable</a:t>
            </a:r>
            <a:r>
              <a:rPr dirty="0" sz="1950" spc="114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patterns</a:t>
            </a:r>
            <a:r>
              <a:rPr dirty="0" sz="1950" spc="114">
                <a:latin typeface="Times New Roman"/>
                <a:cs typeface="Times New Roman"/>
              </a:rPr>
              <a:t>  </a:t>
            </a:r>
            <a:r>
              <a:rPr dirty="0" sz="1950" spc="-25">
                <a:latin typeface="Times New Roman"/>
                <a:cs typeface="Times New Roman"/>
              </a:rPr>
              <a:t>in </a:t>
            </a:r>
            <a:r>
              <a:rPr dirty="0" sz="1950">
                <a:latin typeface="Times New Roman"/>
                <a:cs typeface="Times New Roman"/>
              </a:rPr>
              <a:t>language</a:t>
            </a:r>
            <a:r>
              <a:rPr dirty="0" sz="1950" spc="1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usage,</a:t>
            </a:r>
            <a:r>
              <a:rPr dirty="0" sz="1950" spc="1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1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descriptions,</a:t>
            </a:r>
            <a:r>
              <a:rPr dirty="0" sz="1950" spc="1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salary</a:t>
            </a:r>
            <a:r>
              <a:rPr dirty="0" sz="1950" spc="1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details,</a:t>
            </a:r>
            <a:r>
              <a:rPr dirty="0" sz="1950" spc="1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1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employer</a:t>
            </a:r>
            <a:r>
              <a:rPr dirty="0" sz="1950" spc="1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behavior.</a:t>
            </a:r>
            <a:r>
              <a:rPr dirty="0" sz="1950" spc="1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Machine</a:t>
            </a:r>
            <a:r>
              <a:rPr dirty="0" sz="1950" spc="16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Learning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highly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effective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learning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such</a:t>
            </a:r>
            <a:r>
              <a:rPr dirty="0" sz="1950" spc="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hidden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patterns.</a:t>
            </a:r>
            <a:endParaRPr sz="1950">
              <a:latin typeface="Times New Roman"/>
              <a:cs typeface="Times New Roman"/>
            </a:endParaRPr>
          </a:p>
          <a:p>
            <a:pPr algn="just" marL="12700" marR="5080" indent="272415">
              <a:lnSpc>
                <a:spcPct val="101499"/>
              </a:lnSpc>
              <a:buChar char="●"/>
              <a:tabLst>
                <a:tab pos="285115" algn="l"/>
              </a:tabLst>
            </a:pPr>
            <a:r>
              <a:rPr dirty="0" sz="1950">
                <a:latin typeface="Times New Roman"/>
                <a:cs typeface="Times New Roman"/>
              </a:rPr>
              <a:t>Previous</a:t>
            </a:r>
            <a:r>
              <a:rPr dirty="0" sz="1950" spc="48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studies</a:t>
            </a:r>
            <a:r>
              <a:rPr dirty="0" sz="1950" spc="49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highlight</a:t>
            </a:r>
            <a:r>
              <a:rPr dirty="0" sz="1950" spc="48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use</a:t>
            </a:r>
            <a:r>
              <a:rPr dirty="0" sz="1950" spc="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NLP</a:t>
            </a:r>
            <a:r>
              <a:rPr dirty="0" sz="1950" spc="1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techniques</a:t>
            </a:r>
            <a:r>
              <a:rPr dirty="0" sz="1950" spc="1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20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classification</a:t>
            </a:r>
            <a:r>
              <a:rPr dirty="0" sz="1950" spc="15">
                <a:latin typeface="Times New Roman"/>
                <a:cs typeface="Times New Roman"/>
              </a:rPr>
              <a:t>  </a:t>
            </a:r>
            <a:r>
              <a:rPr dirty="0" sz="1950">
                <a:latin typeface="Times New Roman"/>
                <a:cs typeface="Times New Roman"/>
              </a:rPr>
              <a:t>models</a:t>
            </a:r>
            <a:r>
              <a:rPr dirty="0" sz="1950" spc="10">
                <a:latin typeface="Times New Roman"/>
                <a:cs typeface="Times New Roman"/>
              </a:rPr>
              <a:t>  </a:t>
            </a:r>
            <a:r>
              <a:rPr dirty="0" sz="1950" spc="-20">
                <a:latin typeface="Times New Roman"/>
                <a:cs typeface="Times New Roman"/>
              </a:rPr>
              <a:t>like </a:t>
            </a:r>
            <a:r>
              <a:rPr dirty="0" sz="1950">
                <a:latin typeface="Times New Roman"/>
                <a:cs typeface="Times New Roman"/>
              </a:rPr>
              <a:t>Logistic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Regression,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SVM,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Random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Forest</a:t>
            </a:r>
            <a:r>
              <a:rPr dirty="0" sz="1950" spc="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detecting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online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scams.</a:t>
            </a:r>
            <a:endParaRPr sz="1950">
              <a:latin typeface="Times New Roman"/>
              <a:cs typeface="Times New Roman"/>
            </a:endParaRPr>
          </a:p>
          <a:p>
            <a:pPr algn="just" marL="12700" marR="5080" indent="226060">
              <a:lnSpc>
                <a:spcPts val="2380"/>
              </a:lnSpc>
              <a:spcBef>
                <a:spcPts val="80"/>
              </a:spcBef>
              <a:buChar char="●"/>
              <a:tabLst>
                <a:tab pos="238760" algn="l"/>
              </a:tabLst>
            </a:pPr>
            <a:r>
              <a:rPr dirty="0" sz="1950">
                <a:latin typeface="Times New Roman"/>
                <a:cs typeface="Times New Roman"/>
              </a:rPr>
              <a:t>Literature</a:t>
            </a:r>
            <a:r>
              <a:rPr dirty="0" sz="1950" spc="1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also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emphasizes</a:t>
            </a:r>
            <a:r>
              <a:rPr dirty="0" sz="1950" spc="1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text</a:t>
            </a:r>
            <a:r>
              <a:rPr dirty="0" sz="1950" spc="1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preprocessing,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feature</a:t>
            </a:r>
            <a:r>
              <a:rPr dirty="0" sz="1950" spc="1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extraction</a:t>
            </a:r>
            <a:r>
              <a:rPr dirty="0" sz="1950" spc="1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(TF-IDF),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17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metadata </a:t>
            </a:r>
            <a:r>
              <a:rPr dirty="0" sz="1950">
                <a:latin typeface="Times New Roman"/>
                <a:cs typeface="Times New Roman"/>
              </a:rPr>
              <a:t>analysis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improve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prediction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accuracy.</a:t>
            </a:r>
            <a:endParaRPr sz="1950">
              <a:latin typeface="Times New Roman"/>
              <a:cs typeface="Times New Roman"/>
            </a:endParaRPr>
          </a:p>
          <a:p>
            <a:pPr algn="just" marL="228600" indent="-215900">
              <a:lnSpc>
                <a:spcPts val="2285"/>
              </a:lnSpc>
              <a:buChar char="●"/>
              <a:tabLst>
                <a:tab pos="228600" algn="l"/>
              </a:tabLst>
            </a:pPr>
            <a:r>
              <a:rPr dirty="0" sz="1950">
                <a:latin typeface="Times New Roman"/>
                <a:cs typeface="Times New Roman"/>
              </a:rPr>
              <a:t>Studies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show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ML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approaches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achieve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high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precision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recall</a:t>
            </a:r>
            <a:r>
              <a:rPr dirty="0" sz="1950" spc="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detecting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deceptive</a:t>
            </a:r>
            <a:endParaRPr sz="19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40"/>
              </a:spcBef>
            </a:pPr>
            <a:r>
              <a:rPr dirty="0" sz="1950">
                <a:latin typeface="Times New Roman"/>
                <a:cs typeface="Times New Roman"/>
              </a:rPr>
              <a:t>online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content,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validating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their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suitability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fake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prediction.</a:t>
            </a:r>
            <a:endParaRPr sz="1950">
              <a:latin typeface="Times New Roman"/>
              <a:cs typeface="Times New Roman"/>
            </a:endParaRPr>
          </a:p>
          <a:p>
            <a:pPr algn="just" marL="12700" marR="9525" indent="250825">
              <a:lnSpc>
                <a:spcPts val="2380"/>
              </a:lnSpc>
              <a:spcBef>
                <a:spcPts val="80"/>
              </a:spcBef>
              <a:buChar char="●"/>
              <a:tabLst>
                <a:tab pos="263525" algn="l"/>
              </a:tabLst>
            </a:pPr>
            <a:r>
              <a:rPr dirty="0" sz="1950">
                <a:latin typeface="Times New Roman"/>
                <a:cs typeface="Times New Roman"/>
              </a:rPr>
              <a:t>Furthermore,</a:t>
            </a:r>
            <a:r>
              <a:rPr dirty="0" sz="1950" spc="3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researchers</a:t>
            </a:r>
            <a:r>
              <a:rPr dirty="0" sz="1950" spc="3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have</a:t>
            </a:r>
            <a:r>
              <a:rPr dirty="0" sz="1950" spc="30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explored</a:t>
            </a:r>
            <a:r>
              <a:rPr dirty="0" sz="1950" spc="3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deep</a:t>
            </a:r>
            <a:r>
              <a:rPr dirty="0" sz="1950" spc="3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learning</a:t>
            </a:r>
            <a:r>
              <a:rPr dirty="0" sz="1950" spc="3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models</a:t>
            </a:r>
            <a:r>
              <a:rPr dirty="0" sz="1950" spc="3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3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more</a:t>
            </a:r>
            <a:r>
              <a:rPr dirty="0" sz="1950" spc="3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complex</a:t>
            </a:r>
            <a:r>
              <a:rPr dirty="0" sz="1950" spc="3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fraud </a:t>
            </a:r>
            <a:r>
              <a:rPr dirty="0" sz="1950">
                <a:latin typeface="Times New Roman"/>
                <a:cs typeface="Times New Roman"/>
              </a:rPr>
              <a:t>detection,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but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traditional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ML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models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remain</a:t>
            </a:r>
            <a:r>
              <a:rPr dirty="0" sz="1950" spc="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effective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due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explainability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fast</a:t>
            </a:r>
            <a:r>
              <a:rPr dirty="0" sz="1950" spc="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training.</a:t>
            </a:r>
            <a:endParaRPr sz="1950">
              <a:latin typeface="Times New Roman"/>
              <a:cs typeface="Times New Roman"/>
            </a:endParaRPr>
          </a:p>
          <a:p>
            <a:pPr algn="just" marL="241935" indent="-229235">
              <a:lnSpc>
                <a:spcPts val="2285"/>
              </a:lnSpc>
              <a:buChar char="●"/>
              <a:tabLst>
                <a:tab pos="241935" algn="l"/>
              </a:tabLst>
            </a:pPr>
            <a:r>
              <a:rPr dirty="0" sz="1950">
                <a:latin typeface="Times New Roman"/>
                <a:cs typeface="Times New Roman"/>
              </a:rPr>
              <a:t>These</a:t>
            </a:r>
            <a:r>
              <a:rPr dirty="0" sz="1950" spc="1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findings</a:t>
            </a:r>
            <a:r>
              <a:rPr dirty="0" sz="1950" spc="1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support</a:t>
            </a:r>
            <a:r>
              <a:rPr dirty="0" sz="1950" spc="1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objective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1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building</a:t>
            </a:r>
            <a:r>
              <a:rPr dirty="0" sz="1950" spc="1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reliable</a:t>
            </a:r>
            <a:r>
              <a:rPr dirty="0" sz="1950" spc="1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ML-based</a:t>
            </a:r>
            <a:r>
              <a:rPr dirty="0" sz="1950" spc="1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fake</a:t>
            </a:r>
            <a:r>
              <a:rPr dirty="0" sz="1950" spc="1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16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prediction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spc="-10">
                <a:latin typeface="Times New Roman"/>
                <a:cs typeface="Times New Roman"/>
              </a:rPr>
              <a:t>system.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10477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39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Proposed</a:t>
            </a:r>
            <a:r>
              <a:rPr dirty="0" sz="3600" spc="5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566465" y="2189528"/>
            <a:ext cx="8722360" cy="33451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15">
              <a:lnSpc>
                <a:spcPct val="101499"/>
              </a:lnSpc>
              <a:spcBef>
                <a:spcPts val="95"/>
              </a:spcBef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address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growing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threat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fake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postings,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proposed</a:t>
            </a:r>
            <a:r>
              <a:rPr dirty="0" sz="1950" spc="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system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automatically </a:t>
            </a:r>
            <a:r>
              <a:rPr dirty="0" sz="1950">
                <a:latin typeface="Times New Roman"/>
                <a:cs typeface="Times New Roman"/>
              </a:rPr>
              <a:t>predicts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fraudulent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advertisements</a:t>
            </a:r>
            <a:r>
              <a:rPr dirty="0" sz="1950" spc="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Machine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Learning.</a:t>
            </a:r>
            <a:endParaRPr sz="1950">
              <a:latin typeface="Times New Roman"/>
              <a:cs typeface="Times New Roman"/>
            </a:endParaRPr>
          </a:p>
          <a:p>
            <a:pPr marL="12700" marR="5080" indent="292100">
              <a:lnSpc>
                <a:spcPct val="101499"/>
              </a:lnSpc>
              <a:buChar char="●"/>
              <a:tabLst>
                <a:tab pos="304800" algn="l"/>
                <a:tab pos="838200" algn="l"/>
                <a:tab pos="1672589" algn="l"/>
                <a:tab pos="2580640" algn="l"/>
                <a:tab pos="3041015" algn="l"/>
                <a:tab pos="3921125" algn="l"/>
                <a:tab pos="4481830" algn="l"/>
                <a:tab pos="5681345" algn="l"/>
                <a:tab pos="7096759" algn="l"/>
                <a:tab pos="7785734" algn="l"/>
              </a:tabLst>
            </a:pPr>
            <a:r>
              <a:rPr dirty="0" sz="1950" spc="-25">
                <a:latin typeface="Times New Roman"/>
                <a:cs typeface="Times New Roman"/>
              </a:rPr>
              <a:t>The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system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collects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25">
                <a:latin typeface="Times New Roman"/>
                <a:cs typeface="Times New Roman"/>
              </a:rPr>
              <a:t>job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posting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20">
                <a:latin typeface="Times New Roman"/>
                <a:cs typeface="Times New Roman"/>
              </a:rPr>
              <a:t>data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containing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descriptions,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titles,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Times New Roman"/>
                <a:cs typeface="Times New Roman"/>
              </a:rPr>
              <a:t>company </a:t>
            </a:r>
            <a:r>
              <a:rPr dirty="0" sz="1950">
                <a:latin typeface="Times New Roman"/>
                <a:cs typeface="Times New Roman"/>
              </a:rPr>
              <a:t>details,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related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metadata.</a:t>
            </a:r>
            <a:endParaRPr sz="1950">
              <a:latin typeface="Times New Roman"/>
              <a:cs typeface="Times New Roman"/>
            </a:endParaRPr>
          </a:p>
          <a:p>
            <a:pPr marL="12700" marR="6350" indent="218440">
              <a:lnSpc>
                <a:spcPts val="2380"/>
              </a:lnSpc>
              <a:spcBef>
                <a:spcPts val="80"/>
              </a:spcBef>
              <a:buChar char="●"/>
              <a:tabLst>
                <a:tab pos="231140" algn="l"/>
              </a:tabLst>
            </a:pPr>
            <a:r>
              <a:rPr dirty="0" sz="1950">
                <a:latin typeface="Times New Roman"/>
                <a:cs typeface="Times New Roman"/>
              </a:rPr>
              <a:t>After</a:t>
            </a:r>
            <a:r>
              <a:rPr dirty="0" sz="1950" spc="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preprocessing</a:t>
            </a:r>
            <a:r>
              <a:rPr dirty="0" sz="1950" spc="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text</a:t>
            </a:r>
            <a:r>
              <a:rPr dirty="0" sz="1950" spc="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(tokenization,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cleaning,</a:t>
            </a:r>
            <a:r>
              <a:rPr dirty="0" sz="1950" spc="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TF-IDF</a:t>
            </a:r>
            <a:r>
              <a:rPr dirty="0" sz="1950" spc="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vectorization),</a:t>
            </a:r>
            <a:r>
              <a:rPr dirty="0" sz="1950" spc="9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80"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data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fed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into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ML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algorithms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training.</a:t>
            </a:r>
            <a:endParaRPr sz="1950">
              <a:latin typeface="Times New Roman"/>
              <a:cs typeface="Times New Roman"/>
            </a:endParaRPr>
          </a:p>
          <a:p>
            <a:pPr marL="226695" indent="-213995">
              <a:lnSpc>
                <a:spcPts val="2285"/>
              </a:lnSpc>
              <a:buChar char="●"/>
              <a:tabLst>
                <a:tab pos="226695" algn="l"/>
              </a:tabLst>
            </a:pP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ML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model</a:t>
            </a:r>
            <a:r>
              <a:rPr dirty="0" sz="1950" spc="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learns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patterns</a:t>
            </a:r>
            <a:r>
              <a:rPr dirty="0" sz="1950" spc="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that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differentiate</a:t>
            </a:r>
            <a:r>
              <a:rPr dirty="0" sz="1950" spc="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genuine and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fake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jobs.</a:t>
            </a:r>
            <a:endParaRPr sz="1950">
              <a:latin typeface="Times New Roman"/>
              <a:cs typeface="Times New Roman"/>
            </a:endParaRPr>
          </a:p>
          <a:p>
            <a:pPr marL="12700" marR="5715" indent="223520">
              <a:lnSpc>
                <a:spcPct val="101499"/>
              </a:lnSpc>
              <a:spcBef>
                <a:spcPts val="5"/>
              </a:spcBef>
              <a:buChar char="●"/>
              <a:tabLst>
                <a:tab pos="236220" algn="l"/>
              </a:tabLst>
            </a:pPr>
            <a:r>
              <a:rPr dirty="0" sz="1950">
                <a:latin typeface="Times New Roman"/>
                <a:cs typeface="Times New Roman"/>
              </a:rPr>
              <a:t>When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11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new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posting</a:t>
            </a:r>
            <a:r>
              <a:rPr dirty="0" sz="1950" spc="1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submitted,</a:t>
            </a:r>
            <a:r>
              <a:rPr dirty="0" sz="1950" spc="1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11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system</a:t>
            </a:r>
            <a:r>
              <a:rPr dirty="0" sz="1950" spc="1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instantly</a:t>
            </a:r>
            <a:r>
              <a:rPr dirty="0" sz="1950" spc="1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predicts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whether</a:t>
            </a:r>
            <a:r>
              <a:rPr dirty="0" sz="1950" spc="1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114">
                <a:latin typeface="Times New Roman"/>
                <a:cs typeface="Times New Roman"/>
              </a:rPr>
              <a:t> </a:t>
            </a:r>
            <a:r>
              <a:rPr dirty="0" sz="1950" spc="-25">
                <a:latin typeface="Times New Roman"/>
                <a:cs typeface="Times New Roman"/>
              </a:rPr>
              <a:t>job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REAL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or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FAKE,</a:t>
            </a:r>
            <a:r>
              <a:rPr dirty="0" sz="1950" spc="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thus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protecting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seekers.</a:t>
            </a:r>
            <a:endParaRPr sz="1950">
              <a:latin typeface="Times New Roman"/>
              <a:cs typeface="Times New Roman"/>
            </a:endParaRPr>
          </a:p>
          <a:p>
            <a:pPr marL="12700" marR="6350" indent="223520">
              <a:lnSpc>
                <a:spcPts val="2380"/>
              </a:lnSpc>
              <a:spcBef>
                <a:spcPts val="80"/>
              </a:spcBef>
              <a:buChar char="●"/>
              <a:tabLst>
                <a:tab pos="236220" algn="l"/>
              </a:tabLst>
            </a:pPr>
            <a:r>
              <a:rPr dirty="0" sz="1950">
                <a:latin typeface="Times New Roman"/>
                <a:cs typeface="Times New Roman"/>
              </a:rPr>
              <a:t>This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solution</a:t>
            </a:r>
            <a:r>
              <a:rPr dirty="0" sz="1950" spc="10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improves</a:t>
            </a:r>
            <a:r>
              <a:rPr dirty="0" sz="1950" spc="1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safety,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reduces</a:t>
            </a:r>
            <a:r>
              <a:rPr dirty="0" sz="1950" spc="1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scam</a:t>
            </a:r>
            <a:r>
              <a:rPr dirty="0" sz="1950" spc="1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exposure,</a:t>
            </a:r>
            <a:r>
              <a:rPr dirty="0" sz="1950" spc="10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enhances</a:t>
            </a:r>
            <a:r>
              <a:rPr dirty="0" sz="1950" spc="1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trust</a:t>
            </a:r>
            <a:r>
              <a:rPr dirty="0" sz="1950" spc="1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</a:t>
            </a:r>
            <a:r>
              <a:rPr dirty="0" sz="1950" spc="12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digital </a:t>
            </a:r>
            <a:r>
              <a:rPr dirty="0" sz="1950">
                <a:latin typeface="Times New Roman"/>
                <a:cs typeface="Times New Roman"/>
              </a:rPr>
              <a:t>job</a:t>
            </a:r>
            <a:r>
              <a:rPr dirty="0" sz="1950" spc="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portals.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84619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187325">
              <a:lnSpc>
                <a:spcPts val="3970"/>
              </a:lnSpc>
            </a:pP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398145">
              <a:lnSpc>
                <a:spcPct val="101499"/>
              </a:lnSpc>
              <a:spcBef>
                <a:spcPts val="95"/>
              </a:spcBef>
              <a:buAutoNum type="arabicPlain"/>
              <a:tabLst>
                <a:tab pos="410845" algn="l"/>
              </a:tabLst>
            </a:pPr>
            <a:r>
              <a:rPr dirty="0"/>
              <a:t>A.</a:t>
            </a:r>
            <a:r>
              <a:rPr dirty="0" spc="380"/>
              <a:t> </a:t>
            </a:r>
            <a:r>
              <a:rPr dirty="0"/>
              <a:t>Matin,</a:t>
            </a:r>
            <a:r>
              <a:rPr dirty="0" spc="365"/>
              <a:t> </a:t>
            </a:r>
            <a:r>
              <a:rPr dirty="0"/>
              <a:t>F.</a:t>
            </a:r>
            <a:r>
              <a:rPr dirty="0" spc="385"/>
              <a:t> </a:t>
            </a:r>
            <a:r>
              <a:rPr dirty="0"/>
              <a:t>Mahmud,</a:t>
            </a:r>
            <a:r>
              <a:rPr dirty="0" spc="385"/>
              <a:t> </a:t>
            </a:r>
            <a:r>
              <a:rPr dirty="0"/>
              <a:t>and</a:t>
            </a:r>
            <a:r>
              <a:rPr dirty="0" spc="385"/>
              <a:t> </a:t>
            </a:r>
            <a:r>
              <a:rPr dirty="0"/>
              <a:t>T.</a:t>
            </a:r>
            <a:r>
              <a:rPr dirty="0" spc="385"/>
              <a:t> </a:t>
            </a:r>
            <a:r>
              <a:rPr dirty="0"/>
              <a:t>Ahmed,</a:t>
            </a:r>
            <a:r>
              <a:rPr dirty="0" spc="380"/>
              <a:t> </a:t>
            </a:r>
            <a:r>
              <a:rPr dirty="0"/>
              <a:t>“Machine</a:t>
            </a:r>
            <a:r>
              <a:rPr dirty="0" spc="375"/>
              <a:t> </a:t>
            </a:r>
            <a:r>
              <a:rPr dirty="0"/>
              <a:t>Learning</a:t>
            </a:r>
            <a:r>
              <a:rPr dirty="0" spc="385"/>
              <a:t> </a:t>
            </a:r>
            <a:r>
              <a:rPr dirty="0"/>
              <a:t>Techniques</a:t>
            </a:r>
            <a:r>
              <a:rPr dirty="0" spc="385"/>
              <a:t> </a:t>
            </a:r>
            <a:r>
              <a:rPr dirty="0" spc="-25"/>
              <a:t>for </a:t>
            </a:r>
            <a:r>
              <a:rPr dirty="0"/>
              <a:t>Detecting</a:t>
            </a:r>
            <a:r>
              <a:rPr dirty="0" spc="480"/>
              <a:t> </a:t>
            </a:r>
            <a:r>
              <a:rPr dirty="0"/>
              <a:t>Fraudulent</a:t>
            </a:r>
            <a:r>
              <a:rPr dirty="0" spc="459"/>
              <a:t> </a:t>
            </a:r>
            <a:r>
              <a:rPr dirty="0"/>
              <a:t>Online</a:t>
            </a:r>
            <a:r>
              <a:rPr dirty="0" spc="450"/>
              <a:t> </a:t>
            </a:r>
            <a:r>
              <a:rPr dirty="0"/>
              <a:t>Job</a:t>
            </a:r>
            <a:r>
              <a:rPr dirty="0" spc="480"/>
              <a:t> </a:t>
            </a:r>
            <a:r>
              <a:rPr dirty="0"/>
              <a:t>Postings,”</a:t>
            </a:r>
            <a:r>
              <a:rPr dirty="0" spc="450"/>
              <a:t> </a:t>
            </a:r>
            <a:r>
              <a:rPr dirty="0"/>
              <a:t>International</a:t>
            </a:r>
            <a:r>
              <a:rPr dirty="0" spc="445"/>
              <a:t> </a:t>
            </a:r>
            <a:r>
              <a:rPr dirty="0"/>
              <a:t>Journal</a:t>
            </a:r>
            <a:r>
              <a:rPr dirty="0" spc="440"/>
              <a:t> </a:t>
            </a:r>
            <a:r>
              <a:rPr dirty="0"/>
              <a:t>of</a:t>
            </a:r>
            <a:r>
              <a:rPr dirty="0" spc="470"/>
              <a:t> </a:t>
            </a:r>
            <a:r>
              <a:rPr dirty="0" spc="-10"/>
              <a:t>Computer </a:t>
            </a:r>
            <a:r>
              <a:rPr dirty="0"/>
              <a:t>Applications,</a:t>
            </a:r>
            <a:r>
              <a:rPr dirty="0" spc="30"/>
              <a:t> </a:t>
            </a:r>
            <a:r>
              <a:rPr dirty="0"/>
              <a:t>vol.</a:t>
            </a:r>
            <a:r>
              <a:rPr dirty="0" spc="35"/>
              <a:t> </a:t>
            </a:r>
            <a:r>
              <a:rPr dirty="0"/>
              <a:t>XX,</a:t>
            </a:r>
            <a:r>
              <a:rPr dirty="0" spc="75"/>
              <a:t> </a:t>
            </a:r>
            <a:r>
              <a:rPr dirty="0"/>
              <a:t>pp.</a:t>
            </a:r>
            <a:r>
              <a:rPr dirty="0" spc="55"/>
              <a:t> </a:t>
            </a:r>
            <a:r>
              <a:rPr dirty="0"/>
              <a:t>1–5,</a:t>
            </a:r>
            <a:r>
              <a:rPr dirty="0" spc="35"/>
              <a:t> </a:t>
            </a:r>
            <a:r>
              <a:rPr dirty="0" spc="-10"/>
              <a:t>2019.</a:t>
            </a:r>
          </a:p>
          <a:p>
            <a:pPr algn="just" marL="12700" marR="9525" indent="355600">
              <a:lnSpc>
                <a:spcPct val="101499"/>
              </a:lnSpc>
              <a:buAutoNum type="arabicPlain"/>
              <a:tabLst>
                <a:tab pos="368300" algn="l"/>
              </a:tabLst>
            </a:pPr>
            <a:r>
              <a:rPr dirty="0"/>
              <a:t>K.</a:t>
            </a:r>
            <a:r>
              <a:rPr dirty="0" spc="65"/>
              <a:t> </a:t>
            </a:r>
            <a:r>
              <a:rPr dirty="0"/>
              <a:t>Shabnam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50"/>
              <a:t> </a:t>
            </a:r>
            <a:r>
              <a:rPr dirty="0"/>
              <a:t>al.,</a:t>
            </a:r>
            <a:r>
              <a:rPr dirty="0" spc="70"/>
              <a:t> </a:t>
            </a:r>
            <a:r>
              <a:rPr dirty="0"/>
              <a:t>“Fake</a:t>
            </a:r>
            <a:r>
              <a:rPr dirty="0" spc="35"/>
              <a:t> </a:t>
            </a:r>
            <a:r>
              <a:rPr dirty="0"/>
              <a:t>Job</a:t>
            </a:r>
            <a:r>
              <a:rPr dirty="0" spc="50"/>
              <a:t> </a:t>
            </a:r>
            <a:r>
              <a:rPr dirty="0"/>
              <a:t>Detection</a:t>
            </a:r>
            <a:r>
              <a:rPr dirty="0" spc="45"/>
              <a:t> </a:t>
            </a:r>
            <a:r>
              <a:rPr dirty="0"/>
              <a:t>Using</a:t>
            </a:r>
            <a:r>
              <a:rPr dirty="0" spc="70"/>
              <a:t> </a:t>
            </a:r>
            <a:r>
              <a:rPr dirty="0"/>
              <a:t>ML</a:t>
            </a:r>
            <a:r>
              <a:rPr dirty="0" spc="45"/>
              <a:t> </a:t>
            </a:r>
            <a:r>
              <a:rPr dirty="0"/>
              <a:t>Classification</a:t>
            </a:r>
            <a:r>
              <a:rPr dirty="0" spc="50"/>
              <a:t> </a:t>
            </a:r>
            <a:r>
              <a:rPr dirty="0" spc="-10"/>
              <a:t>Algorithms,” </a:t>
            </a:r>
            <a:r>
              <a:rPr dirty="0"/>
              <a:t>Proceedings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6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International</a:t>
            </a:r>
            <a:r>
              <a:rPr dirty="0" spc="25"/>
              <a:t> </a:t>
            </a:r>
            <a:r>
              <a:rPr dirty="0"/>
              <a:t>Conference</a:t>
            </a:r>
            <a:r>
              <a:rPr dirty="0" spc="40"/>
              <a:t> </a:t>
            </a:r>
            <a:r>
              <a:rPr dirty="0"/>
              <a:t>on</a:t>
            </a:r>
            <a:r>
              <a:rPr dirty="0" spc="65"/>
              <a:t> </a:t>
            </a:r>
            <a:r>
              <a:rPr dirty="0"/>
              <a:t>Data</a:t>
            </a:r>
            <a:r>
              <a:rPr dirty="0" spc="80"/>
              <a:t> </a:t>
            </a:r>
            <a:r>
              <a:rPr dirty="0"/>
              <a:t>Science,</a:t>
            </a:r>
            <a:r>
              <a:rPr dirty="0" spc="40"/>
              <a:t> </a:t>
            </a:r>
            <a:r>
              <a:rPr dirty="0" spc="-10"/>
              <a:t>2020.</a:t>
            </a:r>
          </a:p>
          <a:p>
            <a:pPr algn="just" marL="12700" marR="9525" indent="370840">
              <a:lnSpc>
                <a:spcPts val="2380"/>
              </a:lnSpc>
              <a:spcBef>
                <a:spcPts val="80"/>
              </a:spcBef>
              <a:buAutoNum type="arabicPlain"/>
              <a:tabLst>
                <a:tab pos="383540" algn="l"/>
              </a:tabLst>
            </a:pPr>
            <a:r>
              <a:rPr dirty="0"/>
              <a:t>J.</a:t>
            </a:r>
            <a:r>
              <a:rPr dirty="0" spc="155"/>
              <a:t> </a:t>
            </a:r>
            <a:r>
              <a:rPr dirty="0"/>
              <a:t>B.</a:t>
            </a:r>
            <a:r>
              <a:rPr dirty="0" spc="180"/>
              <a:t> </a:t>
            </a:r>
            <a:r>
              <a:rPr dirty="0"/>
              <a:t>Doe</a:t>
            </a:r>
            <a:r>
              <a:rPr dirty="0" spc="170"/>
              <a:t> </a:t>
            </a:r>
            <a:r>
              <a:rPr dirty="0"/>
              <a:t>et</a:t>
            </a:r>
            <a:r>
              <a:rPr dirty="0" spc="165"/>
              <a:t> </a:t>
            </a:r>
            <a:r>
              <a:rPr dirty="0"/>
              <a:t>al.,</a:t>
            </a:r>
            <a:r>
              <a:rPr dirty="0" spc="160"/>
              <a:t> </a:t>
            </a:r>
            <a:r>
              <a:rPr dirty="0"/>
              <a:t>“Automated</a:t>
            </a:r>
            <a:r>
              <a:rPr dirty="0" spc="180"/>
              <a:t> </a:t>
            </a:r>
            <a:r>
              <a:rPr dirty="0"/>
              <a:t>Fraud</a:t>
            </a:r>
            <a:r>
              <a:rPr dirty="0" spc="180"/>
              <a:t> </a:t>
            </a:r>
            <a:r>
              <a:rPr dirty="0"/>
              <a:t>Prediction</a:t>
            </a:r>
            <a:r>
              <a:rPr dirty="0" spc="180"/>
              <a:t> </a:t>
            </a:r>
            <a:r>
              <a:rPr dirty="0"/>
              <a:t>Models</a:t>
            </a:r>
            <a:r>
              <a:rPr dirty="0" spc="185"/>
              <a:t> </a:t>
            </a:r>
            <a:r>
              <a:rPr dirty="0"/>
              <a:t>for</a:t>
            </a:r>
            <a:r>
              <a:rPr dirty="0" spc="150"/>
              <a:t> </a:t>
            </a:r>
            <a:r>
              <a:rPr dirty="0"/>
              <a:t>Online</a:t>
            </a:r>
            <a:r>
              <a:rPr dirty="0" spc="170"/>
              <a:t> </a:t>
            </a:r>
            <a:r>
              <a:rPr dirty="0" spc="-10"/>
              <a:t>Platforms,” </a:t>
            </a:r>
            <a:r>
              <a:rPr dirty="0"/>
              <a:t>IEEE</a:t>
            </a:r>
            <a:r>
              <a:rPr dirty="0" spc="25"/>
              <a:t> </a:t>
            </a:r>
            <a:r>
              <a:rPr dirty="0"/>
              <a:t>Access,</a:t>
            </a:r>
            <a:r>
              <a:rPr dirty="0" spc="70"/>
              <a:t> </a:t>
            </a:r>
            <a:r>
              <a:rPr dirty="0" spc="-10"/>
              <a:t>2021.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985772"/>
            <a:ext cx="8342375" cy="372465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264795">
              <a:lnSpc>
                <a:spcPts val="141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32916"/>
            <a:ext cx="10058400" cy="6736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1251204"/>
            <a:ext cx="10058400" cy="588645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39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Git</a:t>
            </a:r>
            <a:r>
              <a:rPr dirty="0" sz="3600" spc="-6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dirty="0" sz="3600" spc="8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Dashboards</a:t>
            </a:r>
            <a:r>
              <a:rPr dirty="0" sz="3600" spc="-6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3600" spc="7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600" spc="4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student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35227" y="5885153"/>
            <a:ext cx="597535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Microsoft Sans Serif"/>
                <a:cs typeface="Microsoft Sans Serif"/>
              </a:rPr>
              <a:t>Github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Link: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u="sng" sz="14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https://github.com/SAROSHINI/CSE-</a:t>
            </a:r>
            <a:r>
              <a:rPr dirty="0" u="sng" sz="14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2022-26-</a:t>
            </a:r>
            <a:r>
              <a:rPr dirty="0" u="sng" sz="14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Batch-</a:t>
            </a:r>
            <a:r>
              <a:rPr dirty="0" u="sng" sz="14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B19.git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93471" y="1035824"/>
            <a:ext cx="299847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Fake</a:t>
            </a:r>
            <a:r>
              <a:rPr dirty="0" sz="1200" spc="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200" spc="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Prediction</a:t>
            </a:r>
            <a:r>
              <a:rPr dirty="0" sz="1200" spc="5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200" spc="12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2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spc="-25"/>
              <a:t>B-19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pc="-45"/>
              <a:t>Dept.</a:t>
            </a:r>
            <a:r>
              <a:rPr dirty="0" cap="small" spc="-80"/>
              <a:t> </a:t>
            </a:r>
            <a:r>
              <a:rPr dirty="0" cap="small"/>
              <a:t>of</a:t>
            </a:r>
            <a:r>
              <a:rPr dirty="0" cap="small" spc="2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50"/>
              <a:t>Science</a:t>
            </a:r>
            <a:r>
              <a:rPr dirty="0" cap="small" spc="25"/>
              <a:t> </a:t>
            </a:r>
            <a:r>
              <a:rPr dirty="0" cap="small" spc="-45"/>
              <a:t>and</a:t>
            </a:r>
            <a:r>
              <a:rPr dirty="0" cap="small" spc="10"/>
              <a:t> </a:t>
            </a:r>
            <a:r>
              <a:rPr dirty="0" cap="small" spc="-110"/>
              <a:t>Engineering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720617" y="6514565"/>
            <a:ext cx="3241675" cy="211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35"/>
              </a:lnSpc>
            </a:pPr>
            <a:r>
              <a:rPr dirty="0" cap="small" sz="1300" spc="-65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25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Any</a:t>
            </a:r>
            <a:r>
              <a:rPr dirty="0" spc="-50"/>
              <a:t> </a:t>
            </a:r>
            <a:r>
              <a:rPr dirty="0" spc="-10"/>
              <a:t>Queries?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REVIEW-0_TEMPLATE-new[1] (1)</dc:title>
  <dcterms:created xsi:type="dcterms:W3CDTF">2025-12-05T07:44:31Z</dcterms:created>
  <dcterms:modified xsi:type="dcterms:W3CDTF">2025-12-05T07:44:31Z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LastSaved">
    <vt:filetime>2025-12-05T00:00:00Z</vt:filetime>
  </property>
  <property fmtid="{D5CDD505-2E9C-101B-9397-08002B2CF9AE}" pid="4" name="Producer">
    <vt:lpwstr>Microsoft: Print To PDF</vt:lpwstr>
  </property>
</Properties>
</file>